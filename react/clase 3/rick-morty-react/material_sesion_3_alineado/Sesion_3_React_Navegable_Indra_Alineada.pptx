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287abe93b4d80" /><Relationship Type="http://schemas.openxmlformats.org/officeDocument/2006/relationships/extended-properties" Target="/docProps/app.xml" Id="R514f5e1aea664885" /><Relationship Type="http://schemas.openxmlformats.org/officeDocument/2006/relationships/officeDocument" Target="/ppt/presentation.xml" Id="Rcce543b56c24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39f4d118c74ce9"/>
  </p:sldMasterIdLst>
  <p:notesMasterIdLst>
    <p:notesMasterId xmlns:r="http://schemas.openxmlformats.org/officeDocument/2006/relationships" r:id="R0339015b242640dd"/>
  </p:notesMasterIdLst>
  <p:sldIdLst>
    <p:sldId xmlns:r="http://schemas.openxmlformats.org/officeDocument/2006/relationships" id="256" r:id="R8a9514f3029741c6"/>
    <p:sldId xmlns:r="http://schemas.openxmlformats.org/officeDocument/2006/relationships" id="257" r:id="R42f277a00ac04156"/>
    <p:sldId xmlns:r="http://schemas.openxmlformats.org/officeDocument/2006/relationships" id="258" r:id="R963f5e0c46ba4b38"/>
    <p:sldId xmlns:r="http://schemas.openxmlformats.org/officeDocument/2006/relationships" id="259" r:id="Ra0853d560f444ffc"/>
    <p:sldId xmlns:r="http://schemas.openxmlformats.org/officeDocument/2006/relationships" id="260" r:id="R3244c03350184b4e"/>
    <p:sldId xmlns:r="http://schemas.openxmlformats.org/officeDocument/2006/relationships" id="261" r:id="Rc3d08dc119dc452b"/>
    <p:sldId xmlns:r="http://schemas.openxmlformats.org/officeDocument/2006/relationships" id="262" r:id="Re4aa02a0224a4b0e"/>
    <p:sldId xmlns:r="http://schemas.openxmlformats.org/officeDocument/2006/relationships" id="263" r:id="R5a53ffa154aa473f"/>
    <p:sldId xmlns:r="http://schemas.openxmlformats.org/officeDocument/2006/relationships" id="264" r:id="R20bac474cf2248b3"/>
    <p:sldId xmlns:r="http://schemas.openxmlformats.org/officeDocument/2006/relationships" id="265" r:id="R97e22f3095d542ec"/>
    <p:sldId xmlns:r="http://schemas.openxmlformats.org/officeDocument/2006/relationships" id="266" r:id="R5ead640b81b947f7"/>
    <p:sldId xmlns:r="http://schemas.openxmlformats.org/officeDocument/2006/relationships" id="267" r:id="R019a8f3d129b44cd"/>
    <p:sldId xmlns:r="http://schemas.openxmlformats.org/officeDocument/2006/relationships" id="268" r:id="R6d475fb76b324805"/>
    <p:sldId xmlns:r="http://schemas.openxmlformats.org/officeDocument/2006/relationships" id="269" r:id="R26da9c68901d480d"/>
    <p:sldId xmlns:r="http://schemas.openxmlformats.org/officeDocument/2006/relationships" id="270" r:id="R2c4e7b36f5114ef6"/>
    <p:sldId xmlns:r="http://schemas.openxmlformats.org/officeDocument/2006/relationships" id="271" r:id="Red7d29181c29448b"/>
    <p:sldId xmlns:r="http://schemas.openxmlformats.org/officeDocument/2006/relationships" id="272" r:id="R09044465fc3148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baeb2a0d6440e7" /><Relationship Type="http://schemas.openxmlformats.org/officeDocument/2006/relationships/slideMaster" Target="/ppt/slideMasters/slideMaster1.xml" Id="Rb939f4d118c74ce9" /><Relationship Type="http://schemas.openxmlformats.org/officeDocument/2006/relationships/notesMaster" Target="/ppt/notesMasters/notesMaster1.xml" Id="R0339015b242640dd" /><Relationship Type="http://schemas.openxmlformats.org/officeDocument/2006/relationships/presProps" Target="/ppt/presProps.xml" Id="R018d62a2e6854223" /><Relationship Type="http://schemas.openxmlformats.org/officeDocument/2006/relationships/tableStyles" Target="/ppt/tableStyles.xml" Id="R9b38f42e89094bd8" /><Relationship Type="http://schemas.openxmlformats.org/officeDocument/2006/relationships/slide" Target="/ppt/slides/slide1.xml" Id="R8a9514f3029741c6" /><Relationship Type="http://schemas.openxmlformats.org/officeDocument/2006/relationships/slide" Target="/ppt/slides/slide2.xml" Id="R42f277a00ac04156" /><Relationship Type="http://schemas.openxmlformats.org/officeDocument/2006/relationships/slide" Target="/ppt/slides/slide3.xml" Id="R963f5e0c46ba4b38" /><Relationship Type="http://schemas.openxmlformats.org/officeDocument/2006/relationships/slide" Target="/ppt/slides/slide4.xml" Id="Ra0853d560f444ffc" /><Relationship Type="http://schemas.openxmlformats.org/officeDocument/2006/relationships/slide" Target="/ppt/slides/slide5.xml" Id="R3244c03350184b4e" /><Relationship Type="http://schemas.openxmlformats.org/officeDocument/2006/relationships/slide" Target="/ppt/slides/slide6.xml" Id="Rc3d08dc119dc452b" /><Relationship Type="http://schemas.openxmlformats.org/officeDocument/2006/relationships/slide" Target="/ppt/slides/slide7.xml" Id="Re4aa02a0224a4b0e" /><Relationship Type="http://schemas.openxmlformats.org/officeDocument/2006/relationships/slide" Target="/ppt/slides/slide8.xml" Id="R5a53ffa154aa473f" /><Relationship Type="http://schemas.openxmlformats.org/officeDocument/2006/relationships/slide" Target="/ppt/slides/slide9.xml" Id="R20bac474cf2248b3" /><Relationship Type="http://schemas.openxmlformats.org/officeDocument/2006/relationships/slide" Target="/ppt/slides/slide10.xml" Id="R97e22f3095d542ec" /><Relationship Type="http://schemas.openxmlformats.org/officeDocument/2006/relationships/slide" Target="/ppt/slides/slide11.xml" Id="R5ead640b81b947f7" /><Relationship Type="http://schemas.openxmlformats.org/officeDocument/2006/relationships/slide" Target="/ppt/slides/slide12.xml" Id="R019a8f3d129b44cd" /><Relationship Type="http://schemas.openxmlformats.org/officeDocument/2006/relationships/slide" Target="/ppt/slides/slide13.xml" Id="R6d475fb76b324805" /><Relationship Type="http://schemas.openxmlformats.org/officeDocument/2006/relationships/slide" Target="/ppt/slides/slide14.xml" Id="R26da9c68901d480d" /><Relationship Type="http://schemas.openxmlformats.org/officeDocument/2006/relationships/slide" Target="/ppt/slides/slide15.xml" Id="R2c4e7b36f5114ef6" /><Relationship Type="http://schemas.openxmlformats.org/officeDocument/2006/relationships/slide" Target="/ppt/slides/slide16.xml" Id="Red7d29181c29448b" /><Relationship Type="http://schemas.openxmlformats.org/officeDocument/2006/relationships/slide" Target="/ppt/slides/slide17.xml" Id="R09044465fc3148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6931ee5eec46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a6c95e7214dea" /><Relationship Type="http://schemas.openxmlformats.org/officeDocument/2006/relationships/notesMaster" Target="/ppt/notesMasters/notesMaster1.xml" Id="R097908282cc4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36fb03d61e4c4a" /><Relationship Type="http://schemas.openxmlformats.org/officeDocument/2006/relationships/notesMaster" Target="/ppt/notesMasters/notesMaster1.xml" Id="Rb55651679761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5f58cc6109473a" /><Relationship Type="http://schemas.openxmlformats.org/officeDocument/2006/relationships/notesMaster" Target="/ppt/notesMasters/notesMaster1.xml" Id="R1af619388ea544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92cb6e68104ced" /><Relationship Type="http://schemas.openxmlformats.org/officeDocument/2006/relationships/notesMaster" Target="/ppt/notesMasters/notesMaster1.xml" Id="R30e7a49e33d54c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755d82aa1458d" /><Relationship Type="http://schemas.openxmlformats.org/officeDocument/2006/relationships/notesMaster" Target="/ppt/notesMasters/notesMaster1.xml" Id="R37585ddc902643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beb82cc5840c4" /><Relationship Type="http://schemas.openxmlformats.org/officeDocument/2006/relationships/notesMaster" Target="/ppt/notesMasters/notesMaster1.xml" Id="R5560d16a280743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7ecd4a412e4231" /><Relationship Type="http://schemas.openxmlformats.org/officeDocument/2006/relationships/notesMaster" Target="/ppt/notesMasters/notesMaster1.xml" Id="R51373d690911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c605d8d75a42a6" /><Relationship Type="http://schemas.openxmlformats.org/officeDocument/2006/relationships/notesMaster" Target="/ppt/notesMasters/notesMaster1.xml" Id="Rd6e007c76879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e93bd682604240" /><Relationship Type="http://schemas.openxmlformats.org/officeDocument/2006/relationships/notesMaster" Target="/ppt/notesMasters/notesMaster1.xml" Id="R270cb3449b9e4b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7480394b940e7" /><Relationship Type="http://schemas.openxmlformats.org/officeDocument/2006/relationships/notesMaster" Target="/ppt/notesMasters/notesMaster1.xml" Id="R94734df679a54e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62d2db6b064705" /><Relationship Type="http://schemas.openxmlformats.org/officeDocument/2006/relationships/notesMaster" Target="/ppt/notesMasters/notesMaster1.xml" Id="R74e1c5e664bf41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8b9614efe04d9e" /><Relationship Type="http://schemas.openxmlformats.org/officeDocument/2006/relationships/notesMaster" Target="/ppt/notesMasters/notesMaster1.xml" Id="R5f74ca2c855e4e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0c65ab71134a24" /><Relationship Type="http://schemas.openxmlformats.org/officeDocument/2006/relationships/notesMaster" Target="/ppt/notesMasters/notesMaster1.xml" Id="R040ee155f04d47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8e120948274a5c" /><Relationship Type="http://schemas.openxmlformats.org/officeDocument/2006/relationships/notesMaster" Target="/ppt/notesMasters/notesMaster1.xml" Id="R702cdcf812b740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62063aa4bd48de" /><Relationship Type="http://schemas.openxmlformats.org/officeDocument/2006/relationships/notesMaster" Target="/ppt/notesMasters/notesMaster1.xml" Id="Rb4f6636fd1774b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9263ca5e4c4bc5" /><Relationship Type="http://schemas.openxmlformats.org/officeDocument/2006/relationships/notesMaster" Target="/ppt/notesMasters/notesMaster1.xml" Id="R6b1faada1ee143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b2ce4eeb434af5" /><Relationship Type="http://schemas.openxmlformats.org/officeDocument/2006/relationships/notesMaster" Target="/ppt/notesMasters/notesMaster1.xml" Id="Refaff2a66e52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conectar con el catálogo terminado en la sesión 2.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 y recursos de marca heredados de la presentación de la sesión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resultado de aprendizaje antes de entrar en sintaxis.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https://reactrouter.com/start/declarative/installation</a:t>
            </a:r>
          </a:p>
          <a:p xmlns:a="http://schemas.openxmlformats.org/drawingml/2006/main"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URL es estado de navegación y que el servicio no necesita conocer el router.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https://reactrouter.com/start/declarative/routing</a:t>
            </a:r>
          </a:p>
          <a:p xmlns:a="http://schemas.openxmlformats.org/drawingml/2006/main">
            <a:r>
              <a:t>- https://reactrouter.com/api/hooks/useParams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BrowserRouter se configura una sola vez en src/main.tsx y se importa desde react-router-dom.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src/main.tsx</a:t>
            </a:r>
          </a:p>
          <a:p xmlns:a="http://schemas.openxmlformats.org/drawingml/2006/main">
            <a:r>
              <a:t>- Commit e6bfc34</a:t>
            </a:r>
          </a:p>
          <a:p xmlns:a="http://schemas.openxmlformats.org/drawingml/2006/main">
            <a:r>
              <a:t>- https://reactrouter.com/api/declarative-routers/BrowserRouter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App.tsx delega en AppRouter; CharactersProvider envuelve Routes para conservar el catálogo.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src/app/router/AppRouter.tsx</a:t>
            </a:r>
          </a:p>
          <a:p xmlns:a="http://schemas.openxmlformats.org/drawingml/2006/main">
            <a:r>
              <a:t>- Commits 6891cc0, 22c152c y 36e7051</a:t>
            </a:r>
          </a:p>
          <a:p xmlns:a="http://schemas.openxmlformats.org/drawingml/2006/main">
            <a:r>
              <a:t>- https://reactrouter.com/start/declarative/routing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tarjeta completa es un Link y el aria-label comunica el destino.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src/features/characters/presentation/components/CharacterCard.tsx</a:t>
            </a:r>
          </a:p>
          <a:p xmlns:a="http://schemas.openxmlformats.org/drawingml/2006/main">
            <a:r>
              <a:t>- Commit f69b29e</a:t>
            </a:r>
          </a:p>
          <a:p xmlns:a="http://schemas.openxmlformats.org/drawingml/2006/main">
            <a:r>
              <a:t>- https://reactrouter.com/api/components/Link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infraestructura recibe un id numérico válido, maneja 404 y mapea el DTO.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src/features/characters/infrastructure/rickAndMortyCharacterApi.ts</a:t>
            </a:r>
          </a:p>
          <a:p xmlns:a="http://schemas.openxmlformats.org/drawingml/2006/main">
            <a:r>
              <a:t>- Commit fee02d5</a:t>
            </a:r>
          </a:p>
          <a:p xmlns:a="http://schemas.openxmlformats.org/drawingml/2006/main"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Construir el hook por etapas: validación, estados, retry y efecto con cleanup.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src/features/characters/presentation/hooks/useCharacterDetail.ts</a:t>
            </a:r>
          </a:p>
          <a:p xmlns:a="http://schemas.openxmlformats.org/drawingml/2006/main">
            <a:r>
              <a:t>- Commit fee02d5</a:t>
            </a:r>
          </a:p>
          <a:p xmlns:a="http://schemas.openxmlformats.org/drawingml/2006/main">
            <a:r>
              <a:t>- https://react.dev/reference/react/useEffect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página diferencia carga, error con reintento, notFound y éxito ampliado.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src/features/characters/presentation/pages/CharacterDetailPage.tsx</a:t>
            </a:r>
          </a:p>
          <a:p xmlns:a="http://schemas.openxmlformats.org/drawingml/2006/main">
            <a:r>
              <a:t>- Commit 5e4b780</a:t>
            </a:r>
          </a:p>
          <a:p xmlns:a="http://schemas.openxmlformats.org/drawingml/2006/main">
            <a:r>
              <a:t>- https://reactrouter.com/api/hooks/useParams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real: Link → AppRouter → useParams → useCharacterDetail → fetchCharacterById → render.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</a:t>
            </a:r>
          </a:p>
          <a:p xmlns:a="http://schemas.openxmlformats.org/drawingml/2006/main">
            <a:r>
              <a:t>- Commits f69b29e..5e4b780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hook valida Number.isInteger y exige id positivo antes de llamar a infraestructura.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src/features/characters/presentation/hooks/useCharacterDetail.ts</a:t>
            </a:r>
          </a:p>
          <a:p xmlns:a="http://schemas.openxmlformats.org/drawingml/2006/main">
            <a:r>
              <a:t>- https://reactrouter.com/api/hooks/useParams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404 de recurso, ruta global * y fallback del servidor para recargas directas.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src/app/router/AppRouter.tsx</a:t>
            </a:r>
          </a:p>
          <a:p xmlns:a="http://schemas.openxmlformats.org/drawingml/2006/main">
            <a:r>
              <a:t>- Commit 36e7051</a:t>
            </a:r>
          </a:p>
          <a:p xmlns:a="http://schemas.openxmlformats.org/drawingml/2006/main">
            <a:r>
              <a:t>- https://reactrouter.com/start/declarative/routing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Error ofrece retry; notFound cubre 404 e ids inválidos; éxito muestra datos ampliados.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useCharacterDetail.ts y CharacterDetailPage.tsx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https://react.dev/reference/react/useEffect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estructura final ya refactorizada. No dedicar el bloque central a mover archivos.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src/features/characters/{domain,infrastructure,presentation}</a:t>
            </a:r>
          </a:p>
          <a:p xmlns:a="http://schemas.openxmlformats.org/drawingml/2006/main">
            <a:r>
              <a:t>- Commit 791375a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Secuencia: e6bfc34, 96e7763, 6891cc0, f69b29e, fee02d5, 5e4b780, 22c152c, 36e7051, 791375a, 996b474. Reservar los últimos minutos para QA.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Historial Git local e6bfc34..996b474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primarias para continuar después de la sesión.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https://reactrouter.com/start/declarative/installation</a:t>
            </a:r>
          </a:p>
          <a:p xmlns:a="http://schemas.openxmlformats.org/drawingml/2006/main">
            <a:r>
              <a:t>- https://reactrouter.com/start/declarative/routing</a:t>
            </a:r>
          </a:p>
          <a:p xmlns:a="http://schemas.openxmlformats.org/drawingml/2006/main">
            <a:r>
              <a:t>- https://reactrouter.com/api/hooks/useParams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de la mentoría y espacio final de preguntas.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 y recursos de marca heredados de la presentación de la sesión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1744e01b347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d733257b34969" /><Relationship Type="http://schemas.openxmlformats.org/officeDocument/2006/relationships/slideLayout" Target="/ppt/slideLayouts/slideLayout1.xml" Id="R11989cd1c6d4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989cd1c6d4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a3805a1324d7e" /><Relationship Type="http://schemas.openxmlformats.org/officeDocument/2006/relationships/image" Target="/ppt/media/image.jpeg" Id="Rb484d6daff0a47c6" /><Relationship Type="http://schemas.openxmlformats.org/officeDocument/2006/relationships/image" Target="/ppt/media/image.png" Id="Rc6afd93860804899" /><Relationship Type="http://schemas.openxmlformats.org/officeDocument/2006/relationships/notesSlide" Target="/ppt/notesSlides/notesSlide1.xml" Id="Rd428dd9ed2b7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6f51b7f154768" /><Relationship Type="http://schemas.openxmlformats.org/officeDocument/2006/relationships/image" Target="/ppt/media/image2.png" Id="Rea033edb5b5a448a" /><Relationship Type="http://schemas.openxmlformats.org/officeDocument/2006/relationships/notesSlide" Target="/ppt/notesSlides/notesSlide2.xml" Id="Rc71e871d15414d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0d0bba11439b" /><Relationship Type="http://schemas.openxmlformats.org/officeDocument/2006/relationships/image" Target="/ppt/media/image3.png" Id="R15da6863486a4c21" /><Relationship Type="http://schemas.openxmlformats.org/officeDocument/2006/relationships/notesSlide" Target="/ppt/notesSlides/notesSlide3.xml" Id="R6ad5798c8db1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3ab4e57be4d5c" /><Relationship Type="http://schemas.openxmlformats.org/officeDocument/2006/relationships/image" Target="/ppt/media/image4.png" Id="Rbca7b6f109374fa2" /><Relationship Type="http://schemas.openxmlformats.org/officeDocument/2006/relationships/notesSlide" Target="/ppt/notesSlides/notesSlide4.xml" Id="R32cd94a8fe37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ccc3bdd334cb9" /><Relationship Type="http://schemas.openxmlformats.org/officeDocument/2006/relationships/image" Target="/ppt/media/image5.png" Id="R231fda4590b74da4" /><Relationship Type="http://schemas.openxmlformats.org/officeDocument/2006/relationships/notesSlide" Target="/ppt/notesSlides/notesSlide5.xml" Id="Rb5bfcac6bf7140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29418251c4a78" /><Relationship Type="http://schemas.openxmlformats.org/officeDocument/2006/relationships/image" Target="/ppt/media/image6.png" Id="R46cd17ead88c4c56" /><Relationship Type="http://schemas.openxmlformats.org/officeDocument/2006/relationships/notesSlide" Target="/ppt/notesSlides/notesSlide6.xml" Id="R3375c2b54e2a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eeb5530d14eb6" /><Relationship Type="http://schemas.openxmlformats.org/officeDocument/2006/relationships/image" Target="/ppt/media/image7.png" Id="R338709dde8f5489b" /><Relationship Type="http://schemas.openxmlformats.org/officeDocument/2006/relationships/notesSlide" Target="/ppt/notesSlides/notesSlide7.xml" Id="Rc5c0dc880e5747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736c353b74083" /><Relationship Type="http://schemas.openxmlformats.org/officeDocument/2006/relationships/image" Target="/ppt/media/image8.png" Id="R469282ffeed446d7" /><Relationship Type="http://schemas.openxmlformats.org/officeDocument/2006/relationships/notesSlide" Target="/ppt/notesSlides/notesSlide8.xml" Id="R57dbd08c66ca45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c4c80af7a43e2" /><Relationship Type="http://schemas.openxmlformats.org/officeDocument/2006/relationships/image" Target="/ppt/media/image9.png" Id="R2b7dd3bafdd948d4" /><Relationship Type="http://schemas.openxmlformats.org/officeDocument/2006/relationships/notesSlide" Target="/ppt/notesSlides/notesSlide9.xml" Id="Rc40f9e2db00f4b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c368bc47a41af" /><Relationship Type="http://schemas.openxmlformats.org/officeDocument/2006/relationships/image" Target="/ppt/media/image10.png" Id="R9055d1ad386e4d27" /><Relationship Type="http://schemas.openxmlformats.org/officeDocument/2006/relationships/notesSlide" Target="/ppt/notesSlides/notesSlide10.xml" Id="R73635c7e0e6b48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64820f5fb4868" /><Relationship Type="http://schemas.openxmlformats.org/officeDocument/2006/relationships/image" Target="/ppt/media/image11.png" Id="R8b13eb1fefc94106" /><Relationship Type="http://schemas.openxmlformats.org/officeDocument/2006/relationships/notesSlide" Target="/ppt/notesSlides/notesSlide11.xml" Id="R31338552ebe541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3d7018c96474a" /><Relationship Type="http://schemas.openxmlformats.org/officeDocument/2006/relationships/image" Target="/ppt/media/image12.png" Id="Rbd21a9dc5ffc42a3" /><Relationship Type="http://schemas.openxmlformats.org/officeDocument/2006/relationships/notesSlide" Target="/ppt/notesSlides/notesSlide12.xml" Id="Ref4b1d84154643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7c8c0d481423b" /><Relationship Type="http://schemas.openxmlformats.org/officeDocument/2006/relationships/image" Target="/ppt/media/image13.png" Id="Rd76c06403496406a" /><Relationship Type="http://schemas.openxmlformats.org/officeDocument/2006/relationships/notesSlide" Target="/ppt/notesSlides/notesSlide13.xml" Id="R3f7f71e13d2b48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6c819fffb4ccc" /><Relationship Type="http://schemas.openxmlformats.org/officeDocument/2006/relationships/image" Target="/ppt/media/image14.png" Id="R877803f2714d44f3" /><Relationship Type="http://schemas.openxmlformats.org/officeDocument/2006/relationships/notesSlide" Target="/ppt/notesSlides/notesSlide14.xml" Id="R8cbe2e7d0c324b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7b398696244b1" /><Relationship Type="http://schemas.openxmlformats.org/officeDocument/2006/relationships/image" Target="/ppt/media/image15.png" Id="R29efbe5fb015418c" /><Relationship Type="http://schemas.openxmlformats.org/officeDocument/2006/relationships/image" Target="/ppt/media/image2.jpeg" Id="R1038b97dfef34971" /><Relationship Type="http://schemas.openxmlformats.org/officeDocument/2006/relationships/notesSlide" Target="/ppt/notesSlides/notesSlide15.xml" Id="R267f3f0bfc9544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a30c092074b25" /><Relationship Type="http://schemas.openxmlformats.org/officeDocument/2006/relationships/image" Target="/ppt/media/image16.png" Id="Rfb5b7c6739344590" /><Relationship Type="http://schemas.openxmlformats.org/officeDocument/2006/relationships/notesSlide" Target="/ppt/notesSlides/notesSlide16.xml" Id="R1aa271b2ae8f46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26e7d956948b4" /><Relationship Type="http://schemas.openxmlformats.org/officeDocument/2006/relationships/image" Target="/ppt/media/image17.png" Id="R792bc03edd784edb" /><Relationship Type="http://schemas.openxmlformats.org/officeDocument/2006/relationships/notesSlide" Target="/ppt/notesSlides/notesSlide17.xml" Id="R71fe4c63bd114c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27AA4-5878-4376-BC1F-8C820A5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4d6daff0a47c6"/>
          <a:srcRect xmlns:a="http://schemas.openxmlformats.org/drawingml/2006/main" l="27783" t="0" r="27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30DD-B21E-4F71-A756-57DB48E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00646-1A6E-42C3-BD6A-2787E75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1500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EBC57-DF35-4DB2-9FED-ACB139A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7D7B"/>
                </a:solidFill>
              </a:defRPr>
            </a:pPr>
            <a:r>
              <a:rPr sz="1350" b="1">
                <a:solidFill>
                  <a:srgbClr val="2D7D7B"/>
                </a:solidFill>
              </a:rPr>
              <a:t>SESIÓN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BE0FD-B60E-4B18-AE40-BCD74B4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React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navegable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2501B-E912-42A1-9FCE-F5C310D8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63A43"/>
                </a:solidFill>
              </a:defRPr>
            </a:pPr>
            <a:r>
              <a:rPr sz="2025" b="0">
                <a:solidFill>
                  <a:srgbClr val="163A43"/>
                </a:solidFill>
              </a:rPr>
              <a:t>Rutas, detalle tipado y arquitectura por 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97DB3-C1C6-4027-9EC2-D32DECFA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905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720C8-840D-4A4E-BD84-1CF9C3F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Mentoría Front-End · 60 minutos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fd93860804899"/>
          <a:stretch xmlns:a="http://schemas.openxmlformats.org/drawingml/2006/main"/>
        </p:blipFill>
        <p:spPr>
          <a:xfrm xmlns:a="http://schemas.openxmlformats.org/drawingml/2006/main">
            <a:off x="8239125" y="483854"/>
            <a:ext cx="3095625" cy="36579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5467C-0ABB-45B4-BD39-1AF945F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TEORÍA · FLUJO · PRÁCTICA</a:t>
            </a:r>
          </a:p>
        </p:txBody>
      </p:sp>
    </p:spTree>
    <p:extLst>
      <p:ext uri="{BB962C8B-B14F-4D97-AF65-F5344CB8AC3E}">
        <p14:creationId xmlns:p14="http://schemas.microsoft.com/office/powerpoint/2010/main" val="49143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788CF-544C-4E99-A75A-5F9F890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1A35A-CBF4-4AEC-AE98-CA37DCD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4D4FB-E428-42C6-9ACB-D0C5DB4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1D718-D18F-4A99-9075-ACFE23B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392DA-131F-4A46-80DC-49B7783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33edb5b5a448a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A9CA-C7EF-46F5-8F16-3D7FFAC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URL convierte el catálogo en una aplicación navegable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2FB0-BA52-4C38-B94B-6967EB8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sesión conecta navegación, rutas dinámicas, detalle remoto y arquitectura en un único flujo.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F4EF5-4D1F-4E34-B605-ECB1CF5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768E4-70CA-4198-8DAC-D2780ED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F7FA2-1F61-453A-9AEB-B427D93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Navegar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3F2FE-972C-490C-8B9E-00F2BB0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Link desde tarjeta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998A6-FBE9-4F11-9A42-633C7310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C2BC6-79A8-41F3-8BF1-EBC4DF6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FC33-BBF3-4831-A5B8-CF66BC0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Ruta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71BA-21DE-4E33-A886-FAFBAB4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/characters/:id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1F1AC-7E6B-458A-8738-EE93A70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8F9A7-2D54-4AAC-AE6D-027964C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BF133-519F-4434-85A4-BE3AA1F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Parámetro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97852-9EFD-4B83-83E6-9981E52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useParams →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E13D6-992C-4238-AD65-2B1890E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32FE6-5222-4E41-8274-15434762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F538E-79BF-4A0E-80C9-BF3067A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Consulta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33DE1-C26D-4358-B676-50251731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GET /character/{id}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0BB0F-04D3-4BD4-B83C-093910A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3E1B3-3CA6-44AF-856F-7700187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BBFAF"/>
                </a:solidFill>
              </a:defRPr>
            </a:pPr>
            <a:r>
              <a:rPr sz="1050" b="1">
                <a:solidFill>
                  <a:srgbClr val="CBBFAF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7858A-9586-4D04-9F26-33A18E7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Detalle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E9898-916C-44A4-B761-BFCDED6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Carga, error/retry, 404 o datos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111EC-39C6-446D-8E06-A052A48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62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A43"/>
                </a:solidFill>
              </a:defRPr>
            </a:pPr>
            <a:r>
              <a:rPr sz="1725" b="1">
                <a:solidFill>
                  <a:srgbClr val="163A43"/>
                </a:solidFill>
              </a:rPr>
              <a:t>Objetivo: abrir cada personaje desde una URL estable y conservar responsabilidades claras.</a:t>
            </a:r>
          </a:p>
        </p:txBody>
      </p:sp>
    </p:spTree>
    <p:extLst>
      <p:ext uri="{BB962C8B-B14F-4D97-AF65-F5344CB8AC3E}">
        <p14:creationId xmlns:p14="http://schemas.microsoft.com/office/powerpoint/2010/main" val="1903027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02375-9B19-4A54-A24A-B13DFD4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DA332-9313-4762-B91C-5E19FAB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38EF-4F4E-417A-AF50-FCAE05E8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F7100-4345-4859-8FE7-EB86508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C91F8-AF56-454F-AE75-555DEA3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a6863486a4c21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85446-FC47-4375-BBDB-3F7CA51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ruta activa decide qué página debe representar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7D9D8-761D-4FF6-9250-A66C320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identificador viaja desde la URL hasta el servicio; los datos regresan como estado de interfaz.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3A86-264C-43F3-8AB3-F43ECBD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72F1F-935A-458A-80F5-B39034F4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76625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46A7-30A2-430D-BD0F-FA8418BB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001E7-8A18-4A35-B475-C83CD10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ENTRADA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06BC-460B-4EFD-97FC-A016401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Tarjeta +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0EC97-6BBB-4923-BDCD-DD9FD9C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Destino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55989-7303-45E8-A19E-9855997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AC48-FC0E-49DB-8D73-C0098A5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BBFAF"/>
                </a:solidFill>
              </a:defRPr>
            </a:pPr>
            <a:r>
              <a:rPr sz="975" b="1">
                <a:solidFill>
                  <a:srgbClr val="CBBFAF"/>
                </a:solidFill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30088-B796-43C3-83C5-85B6655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/characters/:id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C1CF-66CE-4201-90A5-D32C539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URL activa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01F4A-CA07-48BF-BC84-1783E9D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51091-0168-4005-A081-B9357BC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A564F-4812-4A1D-84B3-8236A26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Página de detalle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5E0E4-52C3-4D25-9C16-50DF693B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Vista derivada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3C7DE-9E7D-439D-96EF-557E3404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05400"/>
            <a:ext cx="4286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635CD-923B-4779-85C7-D7404F3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720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Link → URL → ruta → consulta → detalle</a:t>
            </a:r>
          </a:p>
        </p:txBody>
      </p:sp>
    </p:spTree>
    <p:extLst>
      <p:ext uri="{BB962C8B-B14F-4D97-AF65-F5344CB8AC3E}">
        <p14:creationId xmlns:p14="http://schemas.microsoft.com/office/powerpoint/2010/main" val="1520974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0FB18-DA8B-43CA-BCEA-20C049E3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16408-DE03-459D-971D-542AC43A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4D35F-5224-459E-8004-37F0D87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C7D6A-99A2-443F-AC4D-BE5E871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12E1D-4DA4-4C07-B081-9717510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7b6f109374fa2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218C8-8559-450F-B693-F26D0F8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BrowserRouter vive una sola vez en main.tsx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E25AD-7989-4118-B287-7902935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react-router-dom 7.18.2 habilita rutas, enlaces y parámetros sin recargar el documento completo.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0177D-F8C6-43FD-81C4-E03F7501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Contexto único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EF202-28F8-4AF7-8A76-B2A08FE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48F8C-D5A6-4541-84BA-C1368524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Envuelve &lt;App /&gt; una sola vez.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EA268-01EE-4209-9671-E3704C7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1FB70-11DE-4C44-96CB-29EBF54A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Se importa desde react-router-dom.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C616-996E-42FE-A0C9-5609167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28D0A-C0A0-4905-A863-2A21538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App delega el mapa a AppRouter.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95444-E4E9-4BA4-96E8-D4ACF7E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jyx0ra1s">
            <a:extLst xmlns:a="http://schemas.openxmlformats.org/drawingml/2006/main">
              <a:ext uri="{FF2B5EF4-FFF2-40B4-BE49-F238E27FC236}">
                <a16:creationId xmlns:a16="http://schemas.microsoft.com/office/drawing/2014/main" id="{E6FDC5CA-9F0D-498D-B9E2-A8802876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import { BrowserRouter } from 'react-router-dom'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import App from './app/App'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rootElement = document.getElementById('root')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if (!rootElement) throw new Error('Root element not found')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createRoot(rootElement).render(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&lt;StrictMode&gt;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&lt;BrowserRouter&gt;&lt;App /&gt;&lt;/BrowserRouter&gt;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&lt;/StrictMode&gt;,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0385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FBC38-033D-4CFF-B8EF-DDBFDEE4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E39A3-4A53-401D-9BBB-1B1BF07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8802F-CC00-49AD-91B8-53D302B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9C69D-5A4C-4323-9037-2E67E5FD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648B-AE51-49A4-89C4-D08A587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fda4590b74da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541D8-FBCA-4917-A72B-A84C6E8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AppRouter reúne rutas y estado compartido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D823B-C437-4DED-9FB5-CE433D7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CharactersProvider conserva filtros; Routes selecciona catálogo, detalle o la salida global 404.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E1FA-B6CF-46C4-BAD3-933C35F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Mapa de 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37154-BAF7-44CC-AC6B-EC9BCE0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C10B3-E9F5-4782-819B-D427073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/ → CatalogPage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A0064-958E-4530-B0C0-2151BF3D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62EF8-2212-48D3-9351-4C81B44F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/characters/:id → CharacterDetailPage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2E7ED-1F84-48BB-B8F6-6CD33A2D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2F9FB-4AC7-4C9A-A0A4-BAA532F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* → NotFoundPage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87825-E685-4A58-A728-1EFD338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i107q5of">
            <a:extLst xmlns:a="http://schemas.openxmlformats.org/drawingml/2006/main">
              <a:ext uri="{FF2B5EF4-FFF2-40B4-BE49-F238E27FC236}">
                <a16:creationId xmlns:a16="http://schemas.microsoft.com/office/drawing/2014/main" id="{6BE96691-643D-4135-84F6-C43D10E8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export function AppRouter() {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return &lt;CharactersProvider&gt;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&lt;Routes&gt;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&lt;Route path="/" element={&lt;CatalogPage /&gt;} /&gt;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&lt;Route path="/characters/:id"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  element={&lt;CharacterDetailPage /&gt;} /&gt;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&lt;Route path="*" element={&lt;NotFoundPage /&gt;} /&gt;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&lt;/Routes&gt;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&lt;/CharactersProvider&gt;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1367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A7212-4BD8-48E6-9BC1-5E7CCE5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F39BE-EBF9-4305-B721-752B800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17CF1-7B2C-4846-8F82-2427F75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99F9-484F-433E-8BEB-56FB2B2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D071-6D0E-4712-BD9A-949964CE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d17ead88c4c56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5F087-F22F-4180-BD79-16C9CE7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Toda la tarjeta funciona como enlace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9859E-71E9-4226-B7B8-9487E95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Link envuelve imagen y contenido; aria-label aporta el nombre accesible sin añadir texto visual.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37C8C-645F-499E-88E9-42BFEB6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Destino declarativo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EC4F3-163F-4737-9A49-42B642C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02703-82C9-4239-AF92-E7498FC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Link usa /characters/${character.id}.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B9B62-8433-4037-9DD5-7AE371A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D13B4-7B42-4FBE-AE21-07BE8B6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Toda la superficie es navegable.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D75A4-BDE6-4706-B4EF-635B677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30D80-BE52-4BB3-948F-8C068A94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No muestra un botón “Ver detalle”.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19ADC-56B4-4920-9B31-DE9CE9DB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x8f69ofe">
            <a:extLst xmlns:a="http://schemas.openxmlformats.org/drawingml/2006/main">
              <a:ext uri="{FF2B5EF4-FFF2-40B4-BE49-F238E27FC236}">
                <a16:creationId xmlns:a16="http://schemas.microsoft.com/office/drawing/2014/main" id="{85F15820-6A6D-4854-A6F7-A214D621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export function CharacterCard({ character }: CharacterCardProps) {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return &lt;article className="..."&gt;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&lt;Link to={`/characters/${character.id}`}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aria-label={`Ver detalle de ${character.name}`}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className="block"&gt;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&lt;img src={character.image} alt={character.name} /&gt;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  &lt;div className="p-6"&gt;...&lt;/div&gt;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&lt;/Link&gt;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&lt;/article&gt;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8975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150BA-C5E1-4825-A2B8-4A46810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DB17B-5B2E-42B5-8999-59B5C87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E584D-EAA1-47C7-903C-72B9864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04A3-A1AC-4B6B-A1F4-3261AB4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055B4-3895-449C-9777-D24538F6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709dde8f5489b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A3320-6CDB-4BD1-B391-51E0584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Infraestructura traduce HTTP al 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B4038-6587-4C0E-A568-FC7B0480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fetchCharacterById usa URL, HTTP, AbortSignal y mapCharacterDetail; no conoce React ni rutas.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C55D1-8194-4E8F-AEC1-267F120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Contrato 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DB717-1EEE-4A5B-9088-E5FED2D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CD635-680C-403B-8F03-556FD88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Recibe number y AbortSignal.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BB5AC-7177-46EE-AB9C-07FAB20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2259-A4BA-4586-8EC9-8CBB058F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Traduce 404 a null.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32235-C62A-4784-8E26-33FFF76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782C3-E439-450B-9BCA-FE0A935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Mapea el DTO a CharacterDetail.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B7069-BABE-436F-908A-E0D4560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gnmp4jqx">
            <a:extLst xmlns:a="http://schemas.openxmlformats.org/drawingml/2006/main">
              <a:ext uri="{FF2B5EF4-FFF2-40B4-BE49-F238E27FC236}">
                <a16:creationId xmlns:a16="http://schemas.microsoft.com/office/drawing/2014/main" id="{681E613B-9C19-44D0-BE6F-0CD1B39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export async function fetchCharacterById(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characterId: number, signal: AbortSignal,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): Promise&lt;CharacterDetail | null&gt; {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const response = await fetch(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  `${API_URL}/character/${characterId}`, { signal }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if (response.status === 404) return null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if (!response.ok) throw new Error(`Error HTTP: ${response.status}`)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return mapCharacterDetail(await response.json())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9385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09944-2A25-4A23-827E-6E31B3E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1E2E-80CE-4D2F-BEBC-7B9C04B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44ED-5B1F-40D7-B9BA-A464A2BE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12192-7685-43F8-AA57-8DAECBAD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ECEA-D19F-4072-BDB0-0C422A6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282ffeed446d7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DFF74-BF48-447F-9327-CF1BA993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useCharacterDetail valida, consulta y permite reintentar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D731-A7CE-460E-9990-3DC857E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id válido y retryCount activan el efecto; el cleanup cancela la consulta anterior.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E3AD-4EF5-487F-89FA-0551277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Estado remoto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EE7B-DA0B-40B7-BCAB-FE2B72C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A694-BD0E-42A6-B093-CBEDB40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Modela loading, error y notFound.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737B6-FA62-41FE-BA67-0983342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FFD0D-1685-46FA-8812-AB0A8297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Valida entero positivo antes del fetch.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4A7E0-287B-46C4-82FA-B4068F9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0E84E-D94B-4E95-A861-3C55AAA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Expone retry y cancela con AbortController.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6C5F1-DF0B-465E-9F52-4C63865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fu1gfa1s">
            <a:extLst xmlns:a="http://schemas.openxmlformats.org/drawingml/2006/main">
              <a:ext uri="{FF2B5EF4-FFF2-40B4-BE49-F238E27FC236}">
                <a16:creationId xmlns:a16="http://schemas.microsoft.com/office/drawing/2014/main" id="{232DDFAF-6C0F-4A6B-842F-7F6FF09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normalizedId = Number(characterId)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valid = Number.isInteger(normalizedId) &amp;&amp; normalizedId &gt; 0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[character, setCharacter] = useState&lt;CharacterDetail | null&gt;(null)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[loading, setLoading] = useState(true)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[error, setError] = useState&lt;string | null&gt;(null)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[notFound, setNotFound] = useState(false)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[retryCount, setRetryCount] = useState(0)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retry = useCallback(() =&gt;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setRetryCount((count) =&gt; count + 1), [])</a:t>
            </a:r>
          </a:p>
        </p:txBody>
      </p:sp>
    </p:spTree>
    <p:extLst>
      <p:ext uri="{BB962C8B-B14F-4D97-AF65-F5344CB8AC3E}">
        <p14:creationId xmlns:p14="http://schemas.microsoft.com/office/powerpoint/2010/main" val="2105863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5F6DC-3128-4534-A441-81F0502E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42476-4855-4821-9A02-0ABD7FF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EFFDD-2A38-45FF-9632-279C161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5CAA-F48A-4751-9D47-9B624A4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FA13B-F66A-469C-BD04-739E9AF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dd3bafdd948d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79C4F-C4BE-4DFA-8E59-7E4FFF4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detalle representa cinco resultados del 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60D11-30BC-409C-B997-9207CDD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CharacterDetailPage lee id y representa carga, error con retry, ausencia o datos ampliados.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8CE69-E70D-4A43-821B-52BB8CB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Página de ruta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C0CFE-0244-44E1-A033-22CF1A52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63D4-FB59-4EDD-B0F4-896EF1E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useParams&lt;{ id: string }&gt; obtiene la ruta.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EB4C7-DE28-4071-9050-BE53842B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9DE95-014F-449F-B2AD-14E90DE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Retry y notFound tienen salidas explícitas.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64FDE-C9DA-4518-A894-87FC71B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2496-1F37-4830-96DA-16EB5AA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Éxito muestra tipo, ubicación y episodios.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B64BD-8E5E-4D72-ADA9-A9E7E11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udsvah03">
            <a:extLst xmlns:a="http://schemas.openxmlformats.org/drawingml/2006/main">
              <a:ext uri="{FF2B5EF4-FFF2-40B4-BE49-F238E27FC236}">
                <a16:creationId xmlns:a16="http://schemas.microsoft.com/office/drawing/2014/main" id="{E6177F40-12D6-4193-906F-ADC05B32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{ id } = useParams&lt;{ id: string }&gt;()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{ character, error, loading, notFound, retry } =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useCharacterDetail(id)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if (loading) return &lt;DetailState&gt;Abriendo el portal...&lt;/DetailState&gt;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if (error) return &lt;button onClick={retry}&gt;Reintentar consulta&lt;/button&gt;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if (notFound || !character)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return &lt;DetailState&gt;Personaje no encontrado&lt;/DetailState&gt;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return &lt;CharacterDetail /&gt;</a:t>
            </a:r>
          </a:p>
        </p:txBody>
      </p:sp>
    </p:spTree>
    <p:extLst>
      <p:ext uri="{BB962C8B-B14F-4D97-AF65-F5344CB8AC3E}">
        <p14:creationId xmlns:p14="http://schemas.microsoft.com/office/powerpoint/2010/main" val="2042780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1615D-7B89-43C3-A931-699911CE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3E882-EF15-4252-8405-B447096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0AE2-7472-4DF0-AE42-A17D460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723B-76F3-44BB-9D6D-F1BA72B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3031-82A3-412E-BF0D-7AC78AB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5d1ad386e4d27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963C6-8BF2-4053-AB96-784B308E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Una navegación activa una cadena clara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C361E-87B7-4FA6-9031-848B967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URL selecciona la página; el id selecciona el recurso; React representa el resultado.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2F450-ED76-40B8-BC47-8C84F37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90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A985-5F52-41B3-908E-A89E5C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81500"/>
            <a:ext cx="190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20F32-6769-4123-B16B-14140A9C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33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BE457-D632-4A16-BE0B-B5D68DC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E1151-E5B6-4731-B969-E117E630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Navegar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15E6A-1709-44DD-9385-178CE7A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Link actualiza /characters/:id.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6383D-E6AB-4E1F-8725-AC5E9A1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97F4-1E4E-42BF-A8ED-BEDDF000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12119-58CE-4494-884C-6353D7C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861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Resolver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79483-128B-40AD-B9BD-0C6F1BB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Routes monta la página y useParams lee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FF9E-B3C6-433C-9C98-D189F9B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7905B-9A54-486C-8637-953160F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B8A62-BDBE-433C-864F-F22CD91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9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Representar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9713E-E0A0-40BD-82EB-1FDA0BE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578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hook valida; la API mapea; la página renderiza.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AC1D5-78A4-441D-8E09-A37DA94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857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FAD7E-20B5-4C62-B017-F5110375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669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URL = pantalla + recurso</a:t>
            </a:r>
          </a:p>
        </p:txBody>
      </p:sp>
    </p:spTree>
    <p:extLst>
      <p:ext uri="{BB962C8B-B14F-4D97-AF65-F5344CB8AC3E}">
        <p14:creationId xmlns:p14="http://schemas.microsoft.com/office/powerpoint/2010/main" val="833330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6871B-EE0D-41B3-BD4B-D6525F2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0FCB-6C30-4AA0-8A85-DA5982CE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DA3F5-75BE-426D-9762-4E67E1B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90CEE-C40C-4534-9BCB-5F5E424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109B-434F-462E-BE90-3FC331C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3eb1fefc94106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0079-D74A-4825-81C2-E3E4BCE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id se valida antes de llegar a infraestructura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6AD4F-74C3-4CEA-B64C-456271A2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useParams entrega string; el hook convierte a number y exige un entero positivo antes de consultar.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13956-DCFC-4568-A75A-3D45CFC6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Frontera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FC3BE-D51F-4677-9824-039B2C7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D827D-A5CD-49E7-89CC-EF09952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:id nace como string.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D791E-442E-43FB-B2BD-F74C215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4CAFE-AB07-4385-A025-D8CE3EF1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hook normaliza y valida.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C7599-BF9E-4EA6-AA32-575552A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DF530-B44B-45CE-A656-A272B09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API recibe un number válido.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32F30-60CA-47DC-8EB8-277883D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Código TypeScript alineado sl/jetc3ut0">
            <a:extLst xmlns:a="http://schemas.openxmlformats.org/drawingml/2006/main">
              <a:ext uri="{FF2B5EF4-FFF2-40B4-BE49-F238E27FC236}">
                <a16:creationId xmlns:a16="http://schemas.microsoft.com/office/drawing/2014/main" id="{61AD6DB5-B579-4F9E-A2AC-4F5F1AAF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8896"/>
            <a:ext cx="6991350" cy="2660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61F"/>
          </a:solidFill>
          <a:ln xmlns:a="http://schemas.openxmlformats.org/drawingml/2006/main" w="0">
            <a:solidFill>
              <a:srgbClr val="2426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{ id } = useParams&lt;{ id: string }&gt;()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normalizedId = Number(id)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valid = Number.isInteger(normalizedId) &amp;&amp; normalizedId &gt;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if (!valid) {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return { loading: false, notFound: true }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const character = await fetchCharacterById(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  normalizedId, controller.signal</a:t>
            </a:r>
          </a:p>
          <a:p xmlns:a="http://schemas.openxmlformats.org/drawingml/2006/main">
            <a:pPr>
              <a:defRPr sz="900">
                <a:solidFill>
                  <a:srgbClr val="B8EC74"/>
                </a:solidFill>
              </a:defRPr>
            </a:pPr>
            <a:r>
              <a:rPr sz="900">
                <a:solidFill>
                  <a:srgbClr val="B8EC74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0552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3A25-829A-4535-823C-E308D1A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72AA-6C5C-430A-A8BA-194589E3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35D8E-8F9A-416D-B086-99FC6D9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71DB-4DB9-4B79-B3A2-E6F13BB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9F4FC-6BBE-40B4-80DC-073E31D5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1a9dc5ffc42a3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2E00-5443-46FD-B645-25C3165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Tres decisiones mantienen el flujo coherente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012E-EE86-4D55-946A-1834D4A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Cada situación tiene una representación y una responsabilidad explícita.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7C1E8-3315-4267-AEE9-0C9D93C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Situación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B19CA-044F-4789-8D39-8936E2E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Respuesta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86281-D1C9-4ADC-9539-3A6AC50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47120-AF44-4C3B-987E-B9990AB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1EF41-A300-4FED-B021-A471A5B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Navegación interna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17DD2-7D4D-4E46-B212-DECAF59E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Usar &lt;Link to&gt;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DCFFE-B1CF-48A7-8B9B-C7D2FB8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670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Conservar la experiencia SPA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2AAA2-E6EF-4535-9C67-BF9C1B80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6CB4-9990-4D19-80D0-011A722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Recurso ausente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BB5B8-D725-4147-97D4-F6E9F12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ED8CC"/>
                </a:solidFill>
              </a:defRPr>
            </a:pPr>
            <a:r>
              <a:rPr sz="1350" b="0">
                <a:solidFill>
                  <a:srgbClr val="DED8CC"/>
                </a:solidFill>
              </a:rPr>
              <a:t>404 →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848D1-23A8-4846-A850-95C9083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95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Mostrar “no encontrado”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0E475-FB09-4E73-8E9C-F0812C4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CC483-78D8-4744-AA7C-F3AAC29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Ruta desconocida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62D77-2D9F-470E-91B8-D275F93F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Route path="*"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97453-6ADE-4F70-9D10-07EFF57E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720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Ofrecer una salida válida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DB250-0D09-4E7E-9D67-9D915E3A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163A43"/>
                </a:solidFill>
              </a:defRPr>
            </a:pPr>
            <a:r>
              <a:rPr sz="1275" b="0" i="1">
                <a:solidFill>
                  <a:srgbClr val="163A43"/>
                </a:solidFill>
              </a:rPr>
              <a:t>En producción, el servidor también debe reenviar rutas de la SPA a index.html.</a:t>
            </a:r>
          </a:p>
        </p:txBody>
      </p:sp>
    </p:spTree>
    <p:extLst>
      <p:ext uri="{BB962C8B-B14F-4D97-AF65-F5344CB8AC3E}">
        <p14:creationId xmlns:p14="http://schemas.microsoft.com/office/powerpoint/2010/main" val="256998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FACC8-3122-4752-9A57-F9AA70E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4E24-6AF0-43F2-B453-7C24AA26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D672D-3BE8-44DE-8903-544255D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3A49-B219-4346-89D4-3101203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F85F-6AD5-47C3-A7D5-80BDC2B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c06403496406a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2DF0E-BCC0-434D-B14F-E0CF95A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detalle necesita cuatro estados explícitos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83E66-456C-453E-A1FB-F2B46FB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ruta puede ser válida aunque el recurso no exista; 404 no es lo mismo que un fallo de 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364C-96FB-4AA2-8D69-182E043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D8315-C857-49E2-B638-E9C51E8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CARGA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E75E-D614-4109-8543-53A41A4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loading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24AFE-86F3-4349-8C87-5215432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F175B-3738-40F0-A391-1CC52E3A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“Cargando detalle…”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CEA5D-B793-4B12-A154-AE33D86C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8D4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7B264-47EE-4AE6-A401-22C9C56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23A57-AC28-4741-AFD4-4D0771C5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1A0B2-8B1F-4067-9E29-666B095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7ED04-BA13-4165-8A69-434782E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Mensaje + botón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8339E-8612-4C45-ACA7-CC4E224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5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A03C9-F71D-4954-A546-C939A6C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AUSENTE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898B4-073C-4EEF-AB53-6CDA6FB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notFound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F69D8-C40C-4F4F-8233-99917D2F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0F91C-0868-474D-A0D0-AB9F9B3B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“Personaje no encontrado”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CE82B-2DAC-4713-BEC5-6B2785A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4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388BE-852F-4C3D-9CDF-FA0373E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ÉXITO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18B20-8510-4128-87F5-96B88BF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character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039CA-1EF2-41E7-BC42-3C190314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138B5-53EA-4BD1-B7B6-3253929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Atributos + episodios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5FF90-A8CA-4774-8C15-8E0A7CE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Robustez = validar, cancelar, reintentar y distinguir ausencia de error.</a:t>
            </a:r>
          </a:p>
        </p:txBody>
      </p:sp>
    </p:spTree>
    <p:extLst>
      <p:ext uri="{BB962C8B-B14F-4D97-AF65-F5344CB8AC3E}">
        <p14:creationId xmlns:p14="http://schemas.microsoft.com/office/powerpoint/2010/main" val="1921363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71CD8-7687-4664-BB7E-5408ECB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27981-18FC-4AA9-A39F-C5850637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B82A-2F2B-4B5E-AA98-4DC54315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39C23-A054-416C-A3AD-25247A0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26A9-C3BD-452D-BE04-FEA9DC3F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803f2714d44f3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F229-F0E4-4BAB-B842-DEE71B2E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feature separa dominio, infraestructura y presentación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997C4-D6FB-4F14-AA79-EE59FC1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AppRouter compone; presentation orquesta; domain modela; infrastructure consulta y mapea.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E3872-7569-46D4-8541-09B7444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1619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2DB48-58AE-46BB-BE2A-0CEC1BE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619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5A88-0201-41E1-A852-135250E2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1143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FBB31-B7BA-49B9-88FE-679CBCE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451F4-3646-40A4-A508-1E3BBE9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app/router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9E88E-D2A9-4B33-A036-03574767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AppRouter +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91287-35C5-4A7C-8694-E19B367C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DD19C-4753-4B48-B113-8FAE472D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1201B-E45B-47F1-99AD-0A063975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ED8CC"/>
                </a:solidFill>
              </a:defRPr>
            </a:pPr>
            <a:r>
              <a:rPr sz="1200" b="0">
                <a:solidFill>
                  <a:srgbClr val="DED8CC"/>
                </a:solidFill>
              </a:rPr>
              <a:t>Pages + hooks +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6821C-633B-4673-8FCA-B559C71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02B27-2EE6-4C5A-A02D-0424F61C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F34C-9166-4A64-AE39-890DCE4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Entidades tipadas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CB8B2-D8AA-4DF2-AB04-71335A4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9B7BA-3FE6-476D-BB37-9AC347D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infra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31C51-1DE5-4F1C-BF5C-5D71314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47662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API + DTO mapping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F621F-947E-43D9-973C-10824A9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49053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FD816-89C4-46F3-ACCC-0ABD0E7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9675"/>
            <a:ext cx="471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AppRouter → presentation → domain ←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10755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82735-A7BA-408D-A9D0-2BAAB72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97403-1FE1-4F04-AA46-924AE8D0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APLICACIÓN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6F5DC-9281-42AA-8ACB-F04A32E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EBD89-1EB2-4BB9-B042-E3CFDFB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7C3E4-D554-401C-9E14-02A14E7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fbe5fb015418c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3138D-A1E8-4F0F-B22A-B181747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3845"/>
                </a:solidFill>
              </a:defRPr>
            </a:pPr>
            <a:r>
              <a:rPr sz="3000" b="1">
                <a:solidFill>
                  <a:srgbClr val="003845"/>
                </a:solidFill>
              </a:rPr>
              <a:t>El live coding sigue el historial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B5507-9CD4-46E3-B5BB-D9541C5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77B"/>
                </a:solidFill>
              </a:defRPr>
            </a:pPr>
            <a:r>
              <a:rPr sz="1575" b="0">
                <a:solidFill>
                  <a:srgbClr val="60777B"/>
                </a:solidFill>
              </a:rPr>
              <a:t>Cinco bloques reproducen e6bfc34..996b474; el refactor por feature se muestra preparado.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02BA-7E53-43DA-AEE7-0CFE677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84B63-D797-4ECC-B251-4CD4B944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EBDB4-892A-449C-ABE0-DDB13D2D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BrowserRouter + CatalogPage + AppRouter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A5C65-6FBB-4421-9320-EC50998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EB274-E6DE-434D-ADAE-F239661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Navegación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11553-79CE-4551-9E64-C9B2CCB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Tarjeta completa → /characters/:id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C1182-3DC1-468C-BBDE-A6844F9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1E9D5-BEBC-4DA9-AF47-F38B8B5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Detalle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5ED4B-1400-46E4-A43A-E5C7B59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95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Entidad + API + useCharacterDetail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097A9-729A-4F40-8630-77052AB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56E00-C5BC-471F-B709-D7393FC2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386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Robustez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B7393-C270-4367-AB37-82F9E532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67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Validación + retry + Context + 404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8CD0B-1580-4B2E-8377-85D9F4E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82909-17BB-44B3-A31C-8846183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863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6E853-25A3-4509-9764-251FCD4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149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Refactor por feature + typecheck/lint/build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8b97dfef34971"/>
          <a:srcRect xmlns:a="http://schemas.openxmlformats.org/drawingml/2006/main" l="21401" t="0" r="214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0625" y="238125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1628B-547C-41CB-B0B6-6F7C74C1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57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16D37-BC39-42AE-AEA3-91543DC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054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16017715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1660B-AB7E-4485-B60F-5ABB1F2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944DE-E747-4302-9FB5-3556A4B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FUENTES Y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6E008-59CC-45A6-ADCA-652F0FA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BBE12-79CB-4669-9739-D5A8007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59AE8-E2E0-438F-8F20-C03EB1A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b7c6739344590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32E15-894C-4A3E-BA34-97DD0CA4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Referencias y repositorio de la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CC1C5-AE84-421B-B486-1B5C315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Documentación primaria y código real utilizados para validar la sesión.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91F99-837C-42DA-A78B-D99D202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Router · instalación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FD7B9-D8DE-4CA3-9B1C-6805C88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BrowserRouter y modo declarativo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D47F-F1EB-4A64-9613-19DFB20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reactrouter.com/start/declarative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5996-0B6A-4F14-9715-F5905A9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89D23-BB96-4C83-A5FF-77C335A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Router ·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68BD7-6407-426D-A1A8-7F61BA0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Routes, Route, Link y useParams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3249B-2604-4F0A-94B3-7C99223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860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reactrouter.com/start/declarative/routing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AD7BB-7B36-4F71-B5B1-8E619D9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96599-B9FF-44A7-A7E2-54CD854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API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14743-D93E-413A-BB4A-C582CC8C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29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useEffect y Effect cleanup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CCF9E-0DCE-4255-BF24-98642E3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react.dev/reference/react/useEffect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919BD-4A29-4BAC-84D2-DAB05E7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4952D-099A-4AC7-9F6A-B1E9825D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Rick and Morty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634CB-9AD6-4773-ACC9-50CDA977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Personajes por identificador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08F1A-E69A-47C3-9491-3B6C0FC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rickandmortyapi.com/documentation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0B2D8-2586-4D77-B5AA-1BD1F1D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612D2-A210-4FC6-B0D6-E727221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Router · useParams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414F2-B636-442D-AE69-6674FB6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14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Segmentos dinámicos de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4F5D9-65FE-4409-8E4D-11AFBDB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14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reactrouter.com/api/hooks/useParams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690C1-EB33-4EC0-BC89-4C60828F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111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bc03edd784edb"/>
          <a:srcRect xmlns:a="http://schemas.openxmlformats.org/drawingml/2006/main" l="0" t="485" r="0" b="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6A1A2-6ADC-433A-8465-7F46B49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Gracias por su participación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C4771-962A-417F-8DA9-6F8E643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450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D8E1E2"/>
                </a:solidFill>
              </a:defRPr>
            </a:pPr>
            <a:r>
              <a:rPr sz="1425">
                <a:solidFill>
                  <a:srgbClr val="D8E1E2"/>
                </a:solidFill>
              </a:rPr>
              <a:t>Cerramos con navegación declarativa, detalle tipado, filtros persistentes y una arquitectura por feature verificada.</a:t>
            </a:r>
          </a:p>
        </p:txBody>
      </p:sp>
    </p:spTree>
    <p:extLst>
      <p:ext uri="{BB962C8B-B14F-4D97-AF65-F5344CB8AC3E}">
        <p14:creationId xmlns:p14="http://schemas.microsoft.com/office/powerpoint/2010/main" val="1377196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2026-09-03T15:47:29.3570000Z</dcterms:created>
  <dcterms:modified xsi:type="dcterms:W3CDTF">2026-09-03T15:47:29.3570000Z</dcterms:modified>
</coreProperties>
</file>