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85b8101fdb4de0" /><Relationship Type="http://schemas.openxmlformats.org/officeDocument/2006/relationships/extended-properties" Target="/docProps/app.xml" Id="Rdae2593ab9524809" /><Relationship Type="http://schemas.openxmlformats.org/officeDocument/2006/relationships/officeDocument" Target="/ppt/presentation.xml" Id="R4943df9a83fc48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69ab910c574697"/>
  </p:sldMasterIdLst>
  <p:notesMasterIdLst>
    <p:notesMasterId xmlns:r="http://schemas.openxmlformats.org/officeDocument/2006/relationships" r:id="R18622aa52c3649b6"/>
  </p:notesMasterIdLst>
  <p:sldIdLst>
    <p:sldId xmlns:r="http://schemas.openxmlformats.org/officeDocument/2006/relationships" id="256" r:id="Re0a933752fe54dd9"/>
    <p:sldId xmlns:r="http://schemas.openxmlformats.org/officeDocument/2006/relationships" id="257" r:id="Radb79ff3952c4cd3"/>
    <p:sldId xmlns:r="http://schemas.openxmlformats.org/officeDocument/2006/relationships" id="258" r:id="R6bbac5958d9e4534"/>
    <p:sldId xmlns:r="http://schemas.openxmlformats.org/officeDocument/2006/relationships" id="259" r:id="R941107279c2843d4"/>
    <p:sldId xmlns:r="http://schemas.openxmlformats.org/officeDocument/2006/relationships" id="260" r:id="R4f824fcf28cf4a17"/>
    <p:sldId xmlns:r="http://schemas.openxmlformats.org/officeDocument/2006/relationships" id="261" r:id="R784daa58d6f54af7"/>
    <p:sldId xmlns:r="http://schemas.openxmlformats.org/officeDocument/2006/relationships" id="262" r:id="R47f05fb7d7e54238"/>
    <p:sldId xmlns:r="http://schemas.openxmlformats.org/officeDocument/2006/relationships" id="263" r:id="R716f6474a556476d"/>
    <p:sldId xmlns:r="http://schemas.openxmlformats.org/officeDocument/2006/relationships" id="264" r:id="R8f247b818f244e13"/>
    <p:sldId xmlns:r="http://schemas.openxmlformats.org/officeDocument/2006/relationships" id="265" r:id="Re2af938902d74912"/>
    <p:sldId xmlns:r="http://schemas.openxmlformats.org/officeDocument/2006/relationships" id="266" r:id="Rf97ecfaecdb646b9"/>
    <p:sldId xmlns:r="http://schemas.openxmlformats.org/officeDocument/2006/relationships" id="267" r:id="R742944ef39874c0b"/>
    <p:sldId xmlns:r="http://schemas.openxmlformats.org/officeDocument/2006/relationships" id="268" r:id="R42a562bd5b2e447b"/>
    <p:sldId xmlns:r="http://schemas.openxmlformats.org/officeDocument/2006/relationships" id="269" r:id="R8afbd2f1ca6c4e4b"/>
    <p:sldId xmlns:r="http://schemas.openxmlformats.org/officeDocument/2006/relationships" id="270" r:id="R096fbbb108bc4d41"/>
    <p:sldId xmlns:r="http://schemas.openxmlformats.org/officeDocument/2006/relationships" id="271" r:id="R015e7a7344524c34"/>
    <p:sldId xmlns:r="http://schemas.openxmlformats.org/officeDocument/2006/relationships" id="272" r:id="R0ecebf753eac4a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fab649daeb414e" /><Relationship Type="http://schemas.openxmlformats.org/officeDocument/2006/relationships/slideMaster" Target="/ppt/slideMasters/slideMaster1.xml" Id="Rbb69ab910c574697" /><Relationship Type="http://schemas.openxmlformats.org/officeDocument/2006/relationships/notesMaster" Target="/ppt/notesMasters/notesMaster1.xml" Id="R18622aa52c3649b6" /><Relationship Type="http://schemas.openxmlformats.org/officeDocument/2006/relationships/presProps" Target="/ppt/presProps.xml" Id="Rda455352d7ee4895" /><Relationship Type="http://schemas.openxmlformats.org/officeDocument/2006/relationships/tableStyles" Target="/ppt/tableStyles.xml" Id="R4f39cd2766924a42" /><Relationship Type="http://schemas.openxmlformats.org/officeDocument/2006/relationships/slide" Target="/ppt/slides/slide1.xml" Id="Re0a933752fe54dd9" /><Relationship Type="http://schemas.openxmlformats.org/officeDocument/2006/relationships/slide" Target="/ppt/slides/slide2.xml" Id="Radb79ff3952c4cd3" /><Relationship Type="http://schemas.openxmlformats.org/officeDocument/2006/relationships/slide" Target="/ppt/slides/slide3.xml" Id="R6bbac5958d9e4534" /><Relationship Type="http://schemas.openxmlformats.org/officeDocument/2006/relationships/slide" Target="/ppt/slides/slide4.xml" Id="R941107279c2843d4" /><Relationship Type="http://schemas.openxmlformats.org/officeDocument/2006/relationships/slide" Target="/ppt/slides/slide5.xml" Id="R4f824fcf28cf4a17" /><Relationship Type="http://schemas.openxmlformats.org/officeDocument/2006/relationships/slide" Target="/ppt/slides/slide6.xml" Id="R784daa58d6f54af7" /><Relationship Type="http://schemas.openxmlformats.org/officeDocument/2006/relationships/slide" Target="/ppt/slides/slide7.xml" Id="R47f05fb7d7e54238" /><Relationship Type="http://schemas.openxmlformats.org/officeDocument/2006/relationships/slide" Target="/ppt/slides/slide8.xml" Id="R716f6474a556476d" /><Relationship Type="http://schemas.openxmlformats.org/officeDocument/2006/relationships/slide" Target="/ppt/slides/slide9.xml" Id="R8f247b818f244e13" /><Relationship Type="http://schemas.openxmlformats.org/officeDocument/2006/relationships/slide" Target="/ppt/slides/slide10.xml" Id="Re2af938902d74912" /><Relationship Type="http://schemas.openxmlformats.org/officeDocument/2006/relationships/slide" Target="/ppt/slides/slide11.xml" Id="Rf97ecfaecdb646b9" /><Relationship Type="http://schemas.openxmlformats.org/officeDocument/2006/relationships/slide" Target="/ppt/slides/slide12.xml" Id="R742944ef39874c0b" /><Relationship Type="http://schemas.openxmlformats.org/officeDocument/2006/relationships/slide" Target="/ppt/slides/slide13.xml" Id="R42a562bd5b2e447b" /><Relationship Type="http://schemas.openxmlformats.org/officeDocument/2006/relationships/slide" Target="/ppt/slides/slide14.xml" Id="R8afbd2f1ca6c4e4b" /><Relationship Type="http://schemas.openxmlformats.org/officeDocument/2006/relationships/slide" Target="/ppt/slides/slide15.xml" Id="R096fbbb108bc4d41" /><Relationship Type="http://schemas.openxmlformats.org/officeDocument/2006/relationships/slide" Target="/ppt/slides/slide16.xml" Id="R015e7a7344524c34" /><Relationship Type="http://schemas.openxmlformats.org/officeDocument/2006/relationships/slide" Target="/ppt/slides/slide17.xml" Id="R0ecebf753eac4a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bb542f24ab4d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89985094a84f94" /><Relationship Type="http://schemas.openxmlformats.org/officeDocument/2006/relationships/notesMaster" Target="/ppt/notesMasters/notesMaster1.xml" Id="R57e4a6d8900144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94cd39050b4e16" /><Relationship Type="http://schemas.openxmlformats.org/officeDocument/2006/relationships/notesMaster" Target="/ppt/notesMasters/notesMaster1.xml" Id="R90d5129031c84d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32277876f5441c" /><Relationship Type="http://schemas.openxmlformats.org/officeDocument/2006/relationships/notesMaster" Target="/ppt/notesMasters/notesMaster1.xml" Id="Red7ff63be27748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19c4d6741f4ecc" /><Relationship Type="http://schemas.openxmlformats.org/officeDocument/2006/relationships/notesMaster" Target="/ppt/notesMasters/notesMaster1.xml" Id="R00fd93d08c114b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c2eb4d4ec246de" /><Relationship Type="http://schemas.openxmlformats.org/officeDocument/2006/relationships/notesMaster" Target="/ppt/notesMasters/notesMaster1.xml" Id="R0e7b4f19048245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27c0f4b4eb41db" /><Relationship Type="http://schemas.openxmlformats.org/officeDocument/2006/relationships/notesMaster" Target="/ppt/notesMasters/notesMaster1.xml" Id="R856593b929514e4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1f7270e0204537" /><Relationship Type="http://schemas.openxmlformats.org/officeDocument/2006/relationships/notesMaster" Target="/ppt/notesMasters/notesMaster1.xml" Id="Rfaceed4dd58d40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2ab25237234459" /><Relationship Type="http://schemas.openxmlformats.org/officeDocument/2006/relationships/notesMaster" Target="/ppt/notesMasters/notesMaster1.xml" Id="Ra1869f20a2a442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928a09a4974a3b" /><Relationship Type="http://schemas.openxmlformats.org/officeDocument/2006/relationships/notesMaster" Target="/ppt/notesMasters/notesMaster1.xml" Id="R12231133a3744d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2d5e549ade4a0c" /><Relationship Type="http://schemas.openxmlformats.org/officeDocument/2006/relationships/notesMaster" Target="/ppt/notesMasters/notesMaster1.xml" Id="R9f365e55bdee47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4f59121cd0424a" /><Relationship Type="http://schemas.openxmlformats.org/officeDocument/2006/relationships/notesMaster" Target="/ppt/notesMasters/notesMaster1.xml" Id="Rc2dd1cfd484a4b3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6b6fa6397ad45bb" /><Relationship Type="http://schemas.openxmlformats.org/officeDocument/2006/relationships/notesMaster" Target="/ppt/notesMasters/notesMaster1.xml" Id="R30c618ba392745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b77694304a4311" /><Relationship Type="http://schemas.openxmlformats.org/officeDocument/2006/relationships/notesMaster" Target="/ppt/notesMasters/notesMaster1.xml" Id="R3dd2493bc01a410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4717588745441d" /><Relationship Type="http://schemas.openxmlformats.org/officeDocument/2006/relationships/notesMaster" Target="/ppt/notesMasters/notesMaster1.xml" Id="R69ecdefb892c42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1b123dcdbf47e4" /><Relationship Type="http://schemas.openxmlformats.org/officeDocument/2006/relationships/notesMaster" Target="/ppt/notesMasters/notesMaster1.xml" Id="Ra2135d5c1c024f7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fb71d6ed67e473d" /><Relationship Type="http://schemas.openxmlformats.org/officeDocument/2006/relationships/notesMaster" Target="/ppt/notesMasters/notesMaster1.xml" Id="Rf365f73a506c4de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e61454bb474206" /><Relationship Type="http://schemas.openxmlformats.org/officeDocument/2006/relationships/notesMaster" Target="/ppt/notesMasters/notesMaster1.xml" Id="R5fa0d07a0cfd48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Apertura: conectar con el catálogo terminado en la sesión 2.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Plantilla y recursos de marca heredados de la presentación de la sesión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el resultado de aprendizaje antes de entrar en sintaxis.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https://reactrouter.com/start/declarative/installation</a:t>
            </a:r>
          </a:p>
          <a:p xmlns:a="http://schemas.openxmlformats.org/drawingml/2006/main">
            <a:r>
              <a:t>- https://rickandmortyapi.com/documentation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la URL es estado de navegación y que el servicio no necesita conocer el router.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https://reactrouter.com/start/declarative/routing</a:t>
            </a:r>
          </a:p>
          <a:p xmlns:a="http://schemas.openxmlformats.org/drawingml/2006/main">
            <a:r>
              <a:t>- https://reactrouter.com/api/hooks/useParams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BrowserRouter se configura una sola vez en src/main.tsx y se importa desde react-router-dom.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src/main.tsx</a:t>
            </a:r>
          </a:p>
          <a:p xmlns:a="http://schemas.openxmlformats.org/drawingml/2006/main">
            <a:r>
              <a:t>- Commit e6bfc34</a:t>
            </a:r>
          </a:p>
          <a:p xmlns:a="http://schemas.openxmlformats.org/drawingml/2006/main">
            <a:r>
              <a:t>- https://reactrouter.com/api/declarative-routers/BrowserRouter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App.tsx delega en AppRouter; CharactersProvider envuelve Routes para conservar el catálogo.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src/app/router/AppRouter.tsx</a:t>
            </a:r>
          </a:p>
          <a:p xmlns:a="http://schemas.openxmlformats.org/drawingml/2006/main">
            <a:r>
              <a:t>- Commits 6891cc0, 22c152c y 36e7051</a:t>
            </a:r>
          </a:p>
          <a:p xmlns:a="http://schemas.openxmlformats.org/drawingml/2006/main">
            <a:r>
              <a:t>- https://reactrouter.com/start/declarative/routing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tarjeta completa es un Link y el aria-label comunica el destino.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src/features/characters/presentation/components/CharacterCard.tsx</a:t>
            </a:r>
          </a:p>
          <a:p xmlns:a="http://schemas.openxmlformats.org/drawingml/2006/main">
            <a:r>
              <a:t>- Commit f69b29e</a:t>
            </a:r>
          </a:p>
          <a:p xmlns:a="http://schemas.openxmlformats.org/drawingml/2006/main">
            <a:r>
              <a:t>- https://reactrouter.com/api/components/Link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infraestructura recibe un id numérico válido, maneja 404 y mapea el DTO.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src/features/characters/infrastructure/rickAndMortyCharacterApi.ts</a:t>
            </a:r>
          </a:p>
          <a:p xmlns:a="http://schemas.openxmlformats.org/drawingml/2006/main">
            <a:r>
              <a:t>- Commit fee02d5</a:t>
            </a:r>
          </a:p>
          <a:p xmlns:a="http://schemas.openxmlformats.org/drawingml/2006/main">
            <a:r>
              <a:t>- https://rickandmortyapi.com/documentation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Construir el hook por etapas: validación, estados, retry y efecto con cleanup.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src/features/characters/presentation/hooks/useCharacterDetail.ts</a:t>
            </a:r>
          </a:p>
          <a:p xmlns:a="http://schemas.openxmlformats.org/drawingml/2006/main">
            <a:r>
              <a:t>- Commit fee02d5</a:t>
            </a:r>
          </a:p>
          <a:p xmlns:a="http://schemas.openxmlformats.org/drawingml/2006/main">
            <a:r>
              <a:t>- https://react.dev/reference/react/useEffect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página diferencia carga, error con reintento, notFound y éxito ampliado.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src/features/characters/presentation/pages/CharacterDetailPage.tsx</a:t>
            </a:r>
          </a:p>
          <a:p xmlns:a="http://schemas.openxmlformats.org/drawingml/2006/main">
            <a:r>
              <a:t>- Commit 5e4b780</a:t>
            </a:r>
          </a:p>
          <a:p xmlns:a="http://schemas.openxmlformats.org/drawingml/2006/main">
            <a:r>
              <a:t>- https://reactrouter.com/api/hooks/useParams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Recorrer el flujo real: Link → AppRouter → useParams → useCharacterDetail → fetchCharacterById → render.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</a:t>
            </a:r>
          </a:p>
          <a:p xmlns:a="http://schemas.openxmlformats.org/drawingml/2006/main">
            <a:r>
              <a:t>- Commits f69b29e..5e4b780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hook valida Number.isInteger y exige id positivo antes de llamar a infraestructura.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src/features/characters/presentation/hooks/useCharacterDetail.ts</a:t>
            </a:r>
          </a:p>
          <a:p xmlns:a="http://schemas.openxmlformats.org/drawingml/2006/main">
            <a:r>
              <a:t>- https://reactrouter.com/api/hooks/useParams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404 de recurso, ruta global * y fallback del servidor para recargas directas.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src/app/router/AppRouter.tsx</a:t>
            </a:r>
          </a:p>
          <a:p xmlns:a="http://schemas.openxmlformats.org/drawingml/2006/main">
            <a:r>
              <a:t>- Commit 36e7051</a:t>
            </a:r>
          </a:p>
          <a:p xmlns:a="http://schemas.openxmlformats.org/drawingml/2006/main">
            <a:r>
              <a:t>- https://reactrouter.com/start/declarative/routing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Error ofrece retry; notFound cubre 404 e ids inválidos; éxito muestra datos ampliados.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useCharacterDetail.ts y CharacterDetailPage.tsx</a:t>
            </a:r>
          </a:p>
          <a:p xmlns:a="http://schemas.openxmlformats.org/drawingml/2006/main">
            <a:r>
              <a:t>- https://rickandmortyapi.com/documentation</a:t>
            </a:r>
          </a:p>
          <a:p xmlns:a="http://schemas.openxmlformats.org/drawingml/2006/main">
            <a:r>
              <a:t>- https://react.dev/reference/react/useEffect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la estructura final ya refactorizada. No dedicar el bloque central a mover archivos.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Repositorio local: src/features/characters/{domain,infrastructure,presentation}</a:t>
            </a:r>
          </a:p>
          <a:p xmlns:a="http://schemas.openxmlformats.org/drawingml/2006/main">
            <a:r>
              <a:t>- Commit 791375a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Secuencia: e6bfc34, 96e7763, 6891cc0, f69b29e, fee02d5, 5e4b780, 22c152c, 36e7051, 791375a, 996b474. Reservar los últimos minutos para QA.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Historial Git local e6bfc34..996b474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Referencias primarias para continuar después de la sesión.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https://reactrouter.com/start/declarative/installation</a:t>
            </a:r>
          </a:p>
          <a:p xmlns:a="http://schemas.openxmlformats.org/drawingml/2006/main">
            <a:r>
              <a:t>- https://reactrouter.com/start/declarative/routing</a:t>
            </a:r>
          </a:p>
          <a:p xmlns:a="http://schemas.openxmlformats.org/drawingml/2006/main">
            <a:r>
              <a:t>- https://reactrouter.com/api/hooks/useParams</a:t>
            </a:r>
          </a:p>
          <a:p xmlns:a="http://schemas.openxmlformats.org/drawingml/2006/main">
            <a:r>
              <a:t>- https://react.dev/reference/react/useEffect</a:t>
            </a:r>
          </a:p>
          <a:p xmlns:a="http://schemas.openxmlformats.org/drawingml/2006/main">
            <a:r>
              <a:t>- https://rickandmortyapi.com/documentation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 de la mentoría y espacio final de preguntas.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Plantilla y recursos de marca heredados de la presentación de la sesión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f8f7f866424b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dce5b9c2e24c30" /><Relationship Type="http://schemas.openxmlformats.org/officeDocument/2006/relationships/slideLayout" Target="/ppt/slideLayouts/slideLayout1.xml" Id="Rf07fee5de56049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7fee5de56049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1dc7ee00d4d8c" /><Relationship Type="http://schemas.openxmlformats.org/officeDocument/2006/relationships/image" Target="/ppt/media/image.jpeg" Id="Rea0d51a7b7cf4ffc" /><Relationship Type="http://schemas.openxmlformats.org/officeDocument/2006/relationships/image" Target="/ppt/media/image.png" Id="R5453cb46d4f94c41" /><Relationship Type="http://schemas.openxmlformats.org/officeDocument/2006/relationships/notesSlide" Target="/ppt/notesSlides/notesSlide1.xml" Id="R80355172177748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f8ab8b314421e" /><Relationship Type="http://schemas.openxmlformats.org/officeDocument/2006/relationships/image" Target="/ppt/media/image2.png" Id="R0c72e9da3f8e47b4" /><Relationship Type="http://schemas.openxmlformats.org/officeDocument/2006/relationships/notesSlide" Target="/ppt/notesSlides/notesSlide2.xml" Id="R435fb956316745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d2c1b8d704179" /><Relationship Type="http://schemas.openxmlformats.org/officeDocument/2006/relationships/image" Target="/ppt/media/image3.png" Id="R7e0b65ee59fd41e3" /><Relationship Type="http://schemas.openxmlformats.org/officeDocument/2006/relationships/notesSlide" Target="/ppt/notesSlides/notesSlide3.xml" Id="R158a612f72c44f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4a6979f7f401e" /><Relationship Type="http://schemas.openxmlformats.org/officeDocument/2006/relationships/image" Target="/ppt/media/image4.png" Id="R914b2b107c09452c" /><Relationship Type="http://schemas.openxmlformats.org/officeDocument/2006/relationships/image" Target="/ppt/media/image5.png" Id="R9430a2d2f3c64346" /><Relationship Type="http://schemas.openxmlformats.org/officeDocument/2006/relationships/notesSlide" Target="/ppt/notesSlides/notesSlide4.xml" Id="R8489156cb4c442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5f9fd040c40b9" /><Relationship Type="http://schemas.openxmlformats.org/officeDocument/2006/relationships/image" Target="/ppt/media/image6.png" Id="R2f77e430eead4f95" /><Relationship Type="http://schemas.openxmlformats.org/officeDocument/2006/relationships/image" Target="/ppt/media/image7.png" Id="Rc1fdf418337d42cd" /><Relationship Type="http://schemas.openxmlformats.org/officeDocument/2006/relationships/notesSlide" Target="/ppt/notesSlides/notesSlide5.xml" Id="Re83582ff87ee48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1a7f8a289463c" /><Relationship Type="http://schemas.openxmlformats.org/officeDocument/2006/relationships/image" Target="/ppt/media/image8.png" Id="R50dc40ce533247c4" /><Relationship Type="http://schemas.openxmlformats.org/officeDocument/2006/relationships/image" Target="/ppt/media/image9.png" Id="R7bc7349d2d67441b" /><Relationship Type="http://schemas.openxmlformats.org/officeDocument/2006/relationships/notesSlide" Target="/ppt/notesSlides/notesSlide6.xml" Id="R202ab29d8edf47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ffed4f32dc4e46" /><Relationship Type="http://schemas.openxmlformats.org/officeDocument/2006/relationships/image" Target="/ppt/media/image10.png" Id="Reecb857533b54535" /><Relationship Type="http://schemas.openxmlformats.org/officeDocument/2006/relationships/image" Target="/ppt/media/image11.png" Id="R000ea2c1eb9446d3" /><Relationship Type="http://schemas.openxmlformats.org/officeDocument/2006/relationships/notesSlide" Target="/ppt/notesSlides/notesSlide7.xml" Id="R48f59f9d2a3c4c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ba99be5eea4b0c" /><Relationship Type="http://schemas.openxmlformats.org/officeDocument/2006/relationships/image" Target="/ppt/media/image12.png" Id="Re1d9ff2beecb4b15" /><Relationship Type="http://schemas.openxmlformats.org/officeDocument/2006/relationships/image" Target="/ppt/media/image13.png" Id="Rdbe0a8a6147b4940" /><Relationship Type="http://schemas.openxmlformats.org/officeDocument/2006/relationships/notesSlide" Target="/ppt/notesSlides/notesSlide8.xml" Id="Rdd9b547a1a024c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0c3e4535d04a8a" /><Relationship Type="http://schemas.openxmlformats.org/officeDocument/2006/relationships/image" Target="/ppt/media/image14.png" Id="Ra33c8422240e4399" /><Relationship Type="http://schemas.openxmlformats.org/officeDocument/2006/relationships/image" Target="/ppt/media/image15.png" Id="R7e0653578b57427c" /><Relationship Type="http://schemas.openxmlformats.org/officeDocument/2006/relationships/notesSlide" Target="/ppt/notesSlides/notesSlide9.xml" Id="Red6a8dc2f45c44f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92ced11b34aec" /><Relationship Type="http://schemas.openxmlformats.org/officeDocument/2006/relationships/image" Target="/ppt/media/image16.png" Id="R5684a477f7ee4f53" /><Relationship Type="http://schemas.openxmlformats.org/officeDocument/2006/relationships/notesSlide" Target="/ppt/notesSlides/notesSlide10.xml" Id="R6a52f6c94ce640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8529c49df4bd6" /><Relationship Type="http://schemas.openxmlformats.org/officeDocument/2006/relationships/image" Target="/ppt/media/image17.png" Id="R3022f5ad38c5427b" /><Relationship Type="http://schemas.openxmlformats.org/officeDocument/2006/relationships/image" Target="/ppt/media/image18.png" Id="R8b7c587fc8e141e1" /><Relationship Type="http://schemas.openxmlformats.org/officeDocument/2006/relationships/notesSlide" Target="/ppt/notesSlides/notesSlide11.xml" Id="R06961741014042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8b9759d774c17" /><Relationship Type="http://schemas.openxmlformats.org/officeDocument/2006/relationships/image" Target="/ppt/media/image19.png" Id="R773b554b26bd4efd" /><Relationship Type="http://schemas.openxmlformats.org/officeDocument/2006/relationships/notesSlide" Target="/ppt/notesSlides/notesSlide12.xml" Id="Rd1780469599048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7d9b9d2294278" /><Relationship Type="http://schemas.openxmlformats.org/officeDocument/2006/relationships/image" Target="/ppt/media/image20.png" Id="Rf3a437563ce64007" /><Relationship Type="http://schemas.openxmlformats.org/officeDocument/2006/relationships/notesSlide" Target="/ppt/notesSlides/notesSlide13.xml" Id="R9f25fa5e0b3742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eb1e08266491e" /><Relationship Type="http://schemas.openxmlformats.org/officeDocument/2006/relationships/image" Target="/ppt/media/image21.png" Id="Re1fce57b5efe49a4" /><Relationship Type="http://schemas.openxmlformats.org/officeDocument/2006/relationships/notesSlide" Target="/ppt/notesSlides/notesSlide14.xml" Id="R870000597a84422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adcbb776145d6" /><Relationship Type="http://schemas.openxmlformats.org/officeDocument/2006/relationships/image" Target="/ppt/media/image22.png" Id="R2933566a3a40452a" /><Relationship Type="http://schemas.openxmlformats.org/officeDocument/2006/relationships/image" Target="/ppt/media/image2.jpeg" Id="Rc3c8b9d02d334af7" /><Relationship Type="http://schemas.openxmlformats.org/officeDocument/2006/relationships/notesSlide" Target="/ppt/notesSlides/notesSlide15.xml" Id="Rb63fc893ee564da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e7e85036d4fba" /><Relationship Type="http://schemas.openxmlformats.org/officeDocument/2006/relationships/image" Target="/ppt/media/image23.png" Id="Rb6b82b0d83ec4104" /><Relationship Type="http://schemas.openxmlformats.org/officeDocument/2006/relationships/notesSlide" Target="/ppt/notesSlides/notesSlide16.xml" Id="R63a7123e54bf417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453e05dc746a8" /><Relationship Type="http://schemas.openxmlformats.org/officeDocument/2006/relationships/image" Target="/ppt/media/image24.png" Id="Rd379532bdf1d4a88" /><Relationship Type="http://schemas.openxmlformats.org/officeDocument/2006/relationships/notesSlide" Target="/ppt/notesSlides/notesSlide17.xml" Id="R333450ec0d4b4c1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A27AA4-5878-4376-BC1F-8C820A59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38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d51a7b7cf4ffc"/>
          <a:srcRect xmlns:a="http://schemas.openxmlformats.org/drawingml/2006/main" l="27783" t="0" r="277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0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E30DD-B21E-4F71-A756-57DB48E8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4572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700646-1A6E-42C3-BD6A-2787E759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715000"/>
            <a:ext cx="4572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EBC57-DF35-4DB2-9FED-ACB139AA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D7D7B"/>
                </a:solidFill>
              </a:defRPr>
            </a:pPr>
            <a:r>
              <a:rPr sz="1350" b="1">
                <a:solidFill>
                  <a:srgbClr val="2D7D7B"/>
                </a:solidFill>
              </a:rPr>
              <a:t>SESIÓN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BE0FD-B60E-4B18-AE40-BCD74B46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43050"/>
            <a:ext cx="666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003845"/>
                </a:solidFill>
              </a:defRPr>
            </a:pPr>
            <a:r>
              <a:rPr sz="4500" b="1">
                <a:solidFill>
                  <a:srgbClr val="003845"/>
                </a:solidFill>
              </a:rPr>
              <a:t>React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003845"/>
                </a:solidFill>
              </a:defRPr>
            </a:pPr>
            <a:r>
              <a:rPr sz="4500" b="1">
                <a:solidFill>
                  <a:srgbClr val="003845"/>
                </a:solidFill>
              </a:rPr>
              <a:t>navegable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2501B-E912-42A1-9FCE-F5C310D8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638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63A43"/>
                </a:solidFill>
              </a:defRPr>
            </a:pPr>
            <a:r>
              <a:rPr sz="2025" b="0">
                <a:solidFill>
                  <a:srgbClr val="163A43"/>
                </a:solidFill>
              </a:rPr>
              <a:t>Rutas, detalle tipado y arquitectura por feature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C97DB3-C1C6-4027-9EC2-D32DECFA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59055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720C8-840D-4A4E-BD84-1CF9C3F5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Mentoría Front-End · 60 minutos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53cb46d4f94c41"/>
          <a:stretch xmlns:a="http://schemas.openxmlformats.org/drawingml/2006/main"/>
        </p:blipFill>
        <p:spPr>
          <a:xfrm xmlns:a="http://schemas.openxmlformats.org/drawingml/2006/main">
            <a:off x="8239125" y="483854"/>
            <a:ext cx="3095625" cy="36579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95467C-0ABB-45B4-BD39-1AF945FB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00750"/>
            <a:ext cx="3762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TEORÍA · FLUJO · PRÁCTICA</a:t>
            </a:r>
          </a:p>
        </p:txBody>
      </p:sp>
    </p:spTree>
    <p:extLst>
      <p:ext uri="{BB962C8B-B14F-4D97-AF65-F5344CB8AC3E}">
        <p14:creationId xmlns:p14="http://schemas.microsoft.com/office/powerpoint/2010/main" val="491432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7788CF-544C-4E99-A75A-5F9F8903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91A35A-CBF4-4AEC-AE98-CA37DCD0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4D4FB-E428-42C6-9ACB-D0C5DB4E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1D718-D18F-4A99-9075-ACFE23BB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392DA-131F-4A46-80DC-49B7783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2e9da3f8e47b4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2A9CA-C7EF-46F5-8F16-3D7FFAC3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La URL convierte el catálogo en una aplicación navegable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1C2FB0-BA52-4C38-B94B-6967EB83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La sesión conecta navegación, rutas dinámicas, detalle remoto y arquitectura en un único flujo.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F4EF5-4D1F-4E34-B605-ECB1CF53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768E4-70CA-4198-8DAC-D2780EDC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F7FA2-1F61-453A-9AEB-B427D939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845"/>
                </a:solidFill>
              </a:defRPr>
            </a:pPr>
            <a:r>
              <a:rPr sz="1800" b="1">
                <a:solidFill>
                  <a:srgbClr val="003845"/>
                </a:solidFill>
              </a:rPr>
              <a:t>Navegar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3F2FE-972C-490C-8B9E-00F2BB09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571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Link desde tarjeta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998A6-FBE9-4F11-9A42-633C7310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3812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C2BC6-79A8-41F3-8BF1-EBC4DF6C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3FC33-BBF3-4831-A5B8-CF66BC04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62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845"/>
                </a:solidFill>
              </a:defRPr>
            </a:pPr>
            <a:r>
              <a:rPr sz="1800" b="1">
                <a:solidFill>
                  <a:srgbClr val="003845"/>
                </a:solidFill>
              </a:rPr>
              <a:t>Ruta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071BA-21DE-4E33-A886-FAFBAB40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790950"/>
            <a:ext cx="1571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/characters/:id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11F1AC-7E6B-458A-8738-EE93A708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8F9A7-2D54-4AAC-AE6D-027964CA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BF133-519F-4434-85A4-BE3AA1FB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62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845"/>
                </a:solidFill>
              </a:defRPr>
            </a:pPr>
            <a:r>
              <a:rPr sz="1800" b="1">
                <a:solidFill>
                  <a:srgbClr val="003845"/>
                </a:solidFill>
              </a:rPr>
              <a:t>Parámetro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397852-9EFD-4B83-83E6-9981E521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90950"/>
            <a:ext cx="1571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useParams → id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E13D6-992C-4238-AD65-2B1890E7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3812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232FE6-5222-4E41-8274-15434762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F538E-79BF-4A0E-80C9-BF3067A9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162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845"/>
                </a:solidFill>
              </a:defRPr>
            </a:pPr>
            <a:r>
              <a:rPr sz="1800" b="1">
                <a:solidFill>
                  <a:srgbClr val="003845"/>
                </a:solidFill>
              </a:rPr>
              <a:t>Consulta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333DE1-C26D-4358-B676-50251731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790950"/>
            <a:ext cx="1571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GET /character/{id}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40BB0F-04D3-4BD4-B83C-093910AC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81250"/>
            <a:ext cx="1952625" cy="2381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003845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F3E1B3-3CA6-44AF-856F-77001878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09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BBFAF"/>
                </a:solidFill>
              </a:defRPr>
            </a:pPr>
            <a:r>
              <a:rPr sz="1050" b="1">
                <a:solidFill>
                  <a:srgbClr val="CBBFAF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77858A-9586-4D04-9F26-33A18E75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62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Detalle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1E9898-916C-44A4-B761-BFCDED66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90950"/>
            <a:ext cx="1571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ED8CC"/>
                </a:solidFill>
              </a:defRPr>
            </a:pPr>
            <a:r>
              <a:rPr sz="1275" b="0">
                <a:solidFill>
                  <a:srgbClr val="DED8CC"/>
                </a:solidFill>
              </a:rPr>
              <a:t>Carga, error/retry, 404 o datos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9111EC-39C6-446D-8E06-A052A48A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1062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3A43"/>
                </a:solidFill>
              </a:defRPr>
            </a:pPr>
            <a:r>
              <a:rPr sz="1725" b="1">
                <a:solidFill>
                  <a:srgbClr val="163A43"/>
                </a:solidFill>
              </a:rPr>
              <a:t>Objetivo: abrir cada personaje desde una URL estable y conservar responsabilidades claras.</a:t>
            </a:r>
          </a:p>
        </p:txBody>
      </p:sp>
    </p:spTree>
    <p:extLst>
      <p:ext uri="{BB962C8B-B14F-4D97-AF65-F5344CB8AC3E}">
        <p14:creationId xmlns:p14="http://schemas.microsoft.com/office/powerpoint/2010/main" val="19030273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C02375-9B19-4A54-A24A-B13DFD4A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DA332-9313-4762-B91C-5E19FABE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438EF-4F4E-417A-AF50-FCAE05E8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7F7100-4345-4859-8FE7-EB86508A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7C91F8-AF56-454F-AE75-555DEA33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b65ee59fd41e3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85446-FC47-4375-BBDB-3F7CA512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La ruta activa decide qué página debe representar React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07D9D8-761D-4FF6-9250-A66C320C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El identificador viaja desde la URL hasta el servicio; los datos regresan como estado de interfaz.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93A86-264C-43F3-8AB3-F43ECBD8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76625"/>
            <a:ext cx="1000125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72F1F-935A-458A-80F5-B39034F4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476625"/>
            <a:ext cx="1000125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7346A7-30A2-430D-BD0F-FA8418BB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667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001E7-8A18-4A35-B475-C83CD101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ENTRADA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B206BC-460B-4EFD-97FC-A0164015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3845"/>
                </a:solidFill>
              </a:defRPr>
            </a:pPr>
            <a:r>
              <a:rPr sz="2025" b="1">
                <a:solidFill>
                  <a:srgbClr val="003845"/>
                </a:solidFill>
              </a:rPr>
              <a:t>Tarjeta + Link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B0EC97-6BBB-4923-BDCD-DD9FD9CE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90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Destino visible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155989-7303-45E8-A19E-9855997D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2667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03845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97AC48-FC0E-49DB-8D73-C0098A50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47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BBFAF"/>
                </a:solidFill>
              </a:defRPr>
            </a:pPr>
            <a:r>
              <a:rPr sz="975" b="1">
                <a:solidFill>
                  <a:srgbClr val="CBBFAF"/>
                </a:solidFill>
              </a:rPr>
              <a:t>ESTADO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30088-B796-43C3-83C5-85B6655C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162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/characters/:id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4C1CF-66CE-4201-90A5-D32C5399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8290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ED8CC"/>
                </a:solidFill>
              </a:defRPr>
            </a:pPr>
            <a:r>
              <a:rPr sz="1275" b="0">
                <a:solidFill>
                  <a:srgbClr val="DED8CC"/>
                </a:solidFill>
              </a:rPr>
              <a:t>URL activa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01F4A-CA07-48BF-BC84-1783E9DB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26670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51091-0168-4005-A081-B9357BC7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SALIDA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A564F-4812-4A1D-84B3-8236A26C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62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3845"/>
                </a:solidFill>
              </a:defRPr>
            </a:pPr>
            <a:r>
              <a:rPr sz="2025" b="1">
                <a:solidFill>
                  <a:srgbClr val="003845"/>
                </a:solidFill>
              </a:rPr>
              <a:t>Página de detalle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75E0E4-52C3-4D25-9C16-50DF693B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29050"/>
            <a:ext cx="219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Vista derivada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3C7DE-9E7D-439D-96EF-557E3404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05400"/>
            <a:ext cx="4286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2635CD-923B-4779-85C7-D7404F34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172075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845"/>
                </a:solidFill>
              </a:defRPr>
            </a:pPr>
            <a:r>
              <a:rPr sz="1050" b="1">
                <a:solidFill>
                  <a:srgbClr val="003845"/>
                </a:solidFill>
              </a:rPr>
              <a:t>Link → URL → ruta → consulta → detalle</a:t>
            </a:r>
          </a:p>
        </p:txBody>
      </p:sp>
    </p:spTree>
    <p:extLst>
      <p:ext uri="{BB962C8B-B14F-4D97-AF65-F5344CB8AC3E}">
        <p14:creationId xmlns:p14="http://schemas.microsoft.com/office/powerpoint/2010/main" val="1520974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0FB18-DA8B-43CA-BCEA-20C049E3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16408-DE03-459D-971D-542AC43A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4D35F-5224-459E-8004-37F0D87E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C7D6A-99A2-443F-AC4D-BE5E871F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812E1D-4DA4-4C07-B081-9717510D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b2b107c09452c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218C8-8559-450F-B693-F26D0F82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BrowserRouter vive una sola vez en main.tsx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E25AD-7989-4118-B287-79029356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react-router-dom 7.18.2 habilita rutas, enlaces y parámetros sin recargar el documento completo.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0177D-F8C6-43FD-81C4-E03F7501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Contexto único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EEF202-28F8-4AF7-8A76-B2A08FE5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648F8C-D5A6-4541-84BA-C1368524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Envuelve &lt;App /&gt; una sola vez.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EA268-01EE-4209-9671-E3704C7C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1FB70-11DE-4C44-96CB-29EBF54A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Se importa desde react-router-dom.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2C616-996E-42FE-A0C9-5609167E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28D0A-C0A0-4905-A863-2A21538F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App delega el mapa a AppRouter.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95444-E4E9-4BA4-96E8-D4ACF7E7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0a2d2f3c64346"/>
          <a:stretch xmlns:a="http://schemas.openxmlformats.org/drawingml/2006/main"/>
        </p:blipFill>
        <p:spPr>
          <a:xfrm xmlns:a="http://schemas.openxmlformats.org/drawingml/2006/main">
            <a:off x="4267200" y="2174334"/>
            <a:ext cx="7181850" cy="3033206"/>
          </a:xfrm>
          <a:prstGeom xmlns:a="http://schemas.openxmlformats.org/drawingml/2006/main" prst="roundRect">
            <a:avLst>
              <a:gd name="adj" fmla="val 2508"/>
            </a:avLst>
          </a:prstGeom>
        </p:spPr>
      </p:pic>
    </p:spTree>
    <p:extLst>
      <p:ext uri="{BB962C8B-B14F-4D97-AF65-F5344CB8AC3E}">
        <p14:creationId xmlns:p14="http://schemas.microsoft.com/office/powerpoint/2010/main" val="20103853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FBC38-033D-4CFF-B8EF-DDBFDEE4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E39A3-4A53-401D-9BBB-1B1BF07C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8802F-CC00-49AD-91B8-53D302B6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9C69D-5A4C-4323-9037-2E67E5FD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E648B-AE51-49A4-89C4-D08A587A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7e430eead4f95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541D8-FBCA-4917-A72B-A84C6E89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AppRouter reúne rutas y estado compartido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D823B-C437-4DED-9FB5-CE433D78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CharactersProvider conserva filtros; Routes selecciona catálogo, detalle o la salida global 404.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E0E1FA-B6CF-46C4-BAD3-933C35FD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Mapa de aplicación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37154-BAF7-44CC-AC6B-EC9BCE0E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C10B3-E9F5-4782-819B-D4270735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/ → CatalogPage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A0064-958E-4530-B0C0-2151BF3D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62EF8-2212-48D3-9351-4C81B44F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/characters/:id → CharacterDetailPage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2E7ED-1F84-48BB-B8F6-6CD33A2D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2F9FB-4AC7-4C9A-A0A4-BAA532F0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* → NotFoundPage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F87825-E685-4A58-A728-1EFD3381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df418337d42cd"/>
          <a:stretch xmlns:a="http://schemas.openxmlformats.org/drawingml/2006/main"/>
        </p:blipFill>
        <p:spPr>
          <a:xfrm xmlns:a="http://schemas.openxmlformats.org/drawingml/2006/main">
            <a:off x="4267200" y="2174334"/>
            <a:ext cx="7181850" cy="3033206"/>
          </a:xfrm>
          <a:prstGeom xmlns:a="http://schemas.openxmlformats.org/drawingml/2006/main" prst="roundRect">
            <a:avLst>
              <a:gd name="adj" fmla="val 2508"/>
            </a:avLst>
          </a:prstGeom>
        </p:spPr>
      </p:pic>
    </p:spTree>
    <p:extLst>
      <p:ext uri="{BB962C8B-B14F-4D97-AF65-F5344CB8AC3E}">
        <p14:creationId xmlns:p14="http://schemas.microsoft.com/office/powerpoint/2010/main" val="8113679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A7212-4BD8-48E6-9BC1-5E7CCE55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F39BE-EBF9-4305-B721-752B800D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17CF1-7B2C-4846-8F82-2427F757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9099F9-484F-433E-8BEB-56FB2B25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5AD071-6D0E-4712-BD9A-949964CE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c40ce533247c4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5F087-F22F-4180-BD79-16C9CE74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Toda la tarjeta funciona como enlace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9859E-71E9-4226-B7B8-9487E9559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El Link envuelve imagen y contenido; aria-label aporta el nombre accesible sin añadir texto visual.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37C8C-645F-499E-88E9-42BFEB61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Destino declarativo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9EC4F3-163F-4737-9A49-42B642CB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02703-82C9-4239-AF92-E7498FC0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Link usa /characters/${character.id}.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B9B62-8433-4037-9DD5-7AE371A7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D13B4-7B42-4FBE-AE21-07BE8B6A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Toda la superficie es navegable.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D75A4-BDE6-4706-B4EF-635B6775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30D80-BE52-4BB3-948F-8C068A94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No muestra un botón “Ver detalle”.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919ADC-56B4-4920-9B31-DE9CE9DB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7349d2d67441b"/>
          <a:stretch xmlns:a="http://schemas.openxmlformats.org/drawingml/2006/main"/>
        </p:blipFill>
        <p:spPr>
          <a:xfrm xmlns:a="http://schemas.openxmlformats.org/drawingml/2006/main">
            <a:off x="4267200" y="2174334"/>
            <a:ext cx="7181850" cy="3033206"/>
          </a:xfrm>
          <a:prstGeom xmlns:a="http://schemas.openxmlformats.org/drawingml/2006/main" prst="roundRect">
            <a:avLst>
              <a:gd name="adj" fmla="val 2508"/>
            </a:avLst>
          </a:prstGeom>
        </p:spPr>
      </p:pic>
    </p:spTree>
    <p:extLst>
      <p:ext uri="{BB962C8B-B14F-4D97-AF65-F5344CB8AC3E}">
        <p14:creationId xmlns:p14="http://schemas.microsoft.com/office/powerpoint/2010/main" val="11889751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150BA-C5E1-4825-A2B8-4A468108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DB17B-5B2E-42B5-8999-59B5C874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E584D-EAA1-47C7-903C-72B98640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204A3-A1AC-4B6B-A1F4-3261AB4A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055B4-3895-449C-9777-D24538F6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b857533b54535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FA3320-6CDB-4BD1-B391-51E0584C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Infraestructura traduce HTTP al dominio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B4038-6587-4C0E-A568-FC7B0480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fetchCharacterById usa URL, HTTP, AbortSignal y mapCharacterDetail; no conoce React ni rutas.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AC55D1-8194-4E8F-AEC1-267F120B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Contrato HTTP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DB717-1EEE-4A5B-9088-E5FED2D8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CD635-680C-403B-8F03-556FD889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Recibe number y AbortSignal.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BB5AC-7177-46EE-AB9C-07FAB206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22259-A4BA-4586-8EC9-8CBB058F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Traduce 404 a null.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32235-C62A-4784-8E26-33FFF763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5782C3-E439-450B-9BCA-FE0A935B7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Mapea el DTO a CharacterDetail.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DB7069-BABE-436F-908A-E0D45607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ea2c1eb9446d3"/>
          <a:stretch xmlns:a="http://schemas.openxmlformats.org/drawingml/2006/main"/>
        </p:blipFill>
        <p:spPr>
          <a:xfrm xmlns:a="http://schemas.openxmlformats.org/drawingml/2006/main">
            <a:off x="4267200" y="2174334"/>
            <a:ext cx="7181850" cy="3033206"/>
          </a:xfrm>
          <a:prstGeom xmlns:a="http://schemas.openxmlformats.org/drawingml/2006/main" prst="roundRect">
            <a:avLst>
              <a:gd name="adj" fmla="val 2508"/>
            </a:avLst>
          </a:prstGeom>
        </p:spPr>
      </p:pic>
    </p:spTree>
    <p:extLst>
      <p:ext uri="{BB962C8B-B14F-4D97-AF65-F5344CB8AC3E}">
        <p14:creationId xmlns:p14="http://schemas.microsoft.com/office/powerpoint/2010/main" val="17893857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A09944-2A25-4A23-827E-6E31B3E7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11E2E-80CE-4D2F-BEBC-7B9C04BC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B44ED-5B1F-40D7-B9BA-A464A2BE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12192-7685-43F8-AA57-8DAECBAD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2ECEA-D19F-4072-BDB0-0C422A6A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9ff2beecb4b15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DFF74-BF48-447F-9327-CF1BA993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useCharacterDetail valida, consulta y permite reintentar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69D731-A7CE-460E-9990-3DC857E2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El id válido y retryCount activan el efecto; el cleanup cancela la consulta anterior.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1AE3AD-4EF5-487F-89FA-05512771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Estado remoto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E3EE7B-DA0B-40B7-BCAB-FE2B72CB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DA694-BD0E-42A6-B093-CBEDB400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Modela loading, error y notFound.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737B6-FA62-41FE-BA67-09833423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EFFD0D-1685-46FA-8812-AB0A8297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Valida entero positivo antes del fetch.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4A7E0-287B-46C4-82FA-B4068F97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0E84E-D94B-4E95-A861-3C55AAA6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Expone retry y cancela con AbortController.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C6C5F1-DF0B-465E-9F52-4C638650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0a8a6147b4940"/>
          <a:stretch xmlns:a="http://schemas.openxmlformats.org/drawingml/2006/main"/>
        </p:blipFill>
        <p:spPr>
          <a:xfrm xmlns:a="http://schemas.openxmlformats.org/drawingml/2006/main">
            <a:off x="4267200" y="2174334"/>
            <a:ext cx="7181850" cy="3033206"/>
          </a:xfrm>
          <a:prstGeom xmlns:a="http://schemas.openxmlformats.org/drawingml/2006/main" prst="roundRect">
            <a:avLst>
              <a:gd name="adj" fmla="val 2508"/>
            </a:avLst>
          </a:prstGeom>
        </p:spPr>
      </p:pic>
    </p:spTree>
    <p:extLst>
      <p:ext uri="{BB962C8B-B14F-4D97-AF65-F5344CB8AC3E}">
        <p14:creationId xmlns:p14="http://schemas.microsoft.com/office/powerpoint/2010/main" val="21058630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35F6DC-3128-4534-A441-81F0502E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42476-4855-4821-9A02-0ABD7FF8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EFFDD-2A38-45FF-9632-279C161D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B5CAA-F48A-4751-9D47-9B624A44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FA13B-F66A-469C-BD04-739E9AFF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c8422240e4399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79C4F-C4BE-4DFA-8E59-7E4FFF4C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El detalle representa cinco resultados del hook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60D11-30BC-409C-B997-9207CDD1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CharacterDetailPage lee id y representa carga, error con retry, ausencia o datos ampliados.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8CE69-E70D-4A43-821B-52BB8CB4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Página de ruta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C0CFE-0244-44E1-A033-22CF1A52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7863D4-FB59-4EDD-B0F4-896EF1E9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useParams&lt;{ id: string }&gt; obtiene la ruta.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EB4C7-DE28-4071-9050-BE53842B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9DE95-014F-449F-B2AD-14E90DED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Retry y notFound tienen salidas explícitas.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64FDE-C9DA-4518-A894-87FC71BD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972496-1F37-4830-96DA-16EB5AA1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Éxito muestra tipo, ubicación y episodios.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B64BD-8E5E-4D72-ADA9-A9E7E112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653578b57427c"/>
          <a:stretch xmlns:a="http://schemas.openxmlformats.org/drawingml/2006/main"/>
        </p:blipFill>
        <p:spPr>
          <a:xfrm xmlns:a="http://schemas.openxmlformats.org/drawingml/2006/main">
            <a:off x="4267200" y="2174334"/>
            <a:ext cx="7181850" cy="3033206"/>
          </a:xfrm>
          <a:prstGeom xmlns:a="http://schemas.openxmlformats.org/drawingml/2006/main" prst="roundRect">
            <a:avLst>
              <a:gd name="adj" fmla="val 2508"/>
            </a:avLst>
          </a:prstGeom>
        </p:spPr>
      </p:pic>
    </p:spTree>
    <p:extLst>
      <p:ext uri="{BB962C8B-B14F-4D97-AF65-F5344CB8AC3E}">
        <p14:creationId xmlns:p14="http://schemas.microsoft.com/office/powerpoint/2010/main" val="20427808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91615D-7B89-43C3-A931-699911CE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3E882-EF15-4252-8405-B447096E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A0AE2-7472-4DF0-AE42-A17D460E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D723B-76F3-44BB-9D6D-F1BA72B7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53031-82A3-412E-BF0D-7AC78AB2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4a477f7ee4f53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963C6-8BF2-4053-AB96-784B308E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Una navegación activa una cadena clara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C361E-87B7-4FA6-9031-848B967E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La URL selecciona la página; el id selecciona el recurso; React representa el resultado.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B2F450-ED76-40B8-BC47-8C84F375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48000"/>
            <a:ext cx="190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9A985-5F52-41B3-908E-A89E5CA2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81500"/>
            <a:ext cx="190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B20F32-6769-4123-B16B-14140A9C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336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BE457-D632-4A16-BE0B-B5D68DCE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908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3845"/>
                </a:solidFill>
              </a:defRPr>
            </a:pPr>
            <a:r>
              <a:rPr sz="2250" b="1">
                <a:solidFill>
                  <a:srgbClr val="003845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E1151-E5B6-4731-B969-E117E630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526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3845"/>
                </a:solidFill>
              </a:defRPr>
            </a:pPr>
            <a:r>
              <a:rPr sz="1875" b="1">
                <a:solidFill>
                  <a:srgbClr val="003845"/>
                </a:solidFill>
              </a:rPr>
              <a:t>Navegar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15E6A-1709-44DD-9385-178CE7A5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908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Link actualiza /characters/:id.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6383D-E6AB-4E1F-8725-AC5E9A11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671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E97F4-1E4E-42BF-A8ED-BEDDF000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243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312119-58CE-4494-884C-6353D7C4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861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3845"/>
                </a:solidFill>
              </a:defRPr>
            </a:pPr>
            <a:r>
              <a:rPr sz="1875" b="1">
                <a:solidFill>
                  <a:srgbClr val="003845"/>
                </a:solidFill>
              </a:rPr>
              <a:t>Resolver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C79483-128B-40AD-B9BD-0C6F1BBD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243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Routes monta la página y useParams lee id.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0FF9E-B3C6-433C-9C98-D189F9B2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006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F7905B-9A54-486C-8637-953160F2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578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03845"/>
                </a:solidFill>
              </a:defRPr>
            </a:pPr>
            <a:r>
              <a:rPr sz="2250" b="1">
                <a:solidFill>
                  <a:srgbClr val="003845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0B8A62-BDBE-433C-864F-F22CD91D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196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3845"/>
                </a:solidFill>
              </a:defRPr>
            </a:pPr>
            <a:r>
              <a:rPr sz="1875" b="1">
                <a:solidFill>
                  <a:srgbClr val="003845"/>
                </a:solidFill>
              </a:rPr>
              <a:t>Representar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9713E-E0A0-40BD-82EB-1FDA0BEE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5782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El hook valida; la API mapea; la página renderiza.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8AC1D5-78A4-441D-8E09-A37DA949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2857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AFAD7E-20B5-4C62-B017-F5110375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669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URL = pantalla + recurso</a:t>
            </a:r>
          </a:p>
        </p:txBody>
      </p:sp>
    </p:spTree>
    <p:extLst>
      <p:ext uri="{BB962C8B-B14F-4D97-AF65-F5344CB8AC3E}">
        <p14:creationId xmlns:p14="http://schemas.microsoft.com/office/powerpoint/2010/main" val="8333305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6871B-EE0D-41B3-BD4B-D6525F2D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70FCB-6C30-4AA0-8A85-DA5982CE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8DA3F5-75BE-426D-9762-4E67E1B9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690CEE-C40C-4534-9BCB-5F5E424B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E109B-434F-462E-BE90-3FC331CF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22f5ad38c5427b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40079-D74A-4825-81C2-E3E4BCE8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El id se valida antes de llegar a infraestructura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6AD4F-74C3-4CEA-B64C-456271A2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useParams entrega string; el hook convierte a number y exige un entero positivo antes de consultar.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13956-DCFC-4568-A75A-3D45CFC6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3845"/>
                </a:solidFill>
              </a:defRPr>
            </a:pPr>
            <a:r>
              <a:rPr sz="1950" b="1">
                <a:solidFill>
                  <a:srgbClr val="003845"/>
                </a:solidFill>
              </a:rPr>
              <a:t>Frontera tipada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FC3BE-D51F-4677-9824-039B2C7A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62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D827D-A5CD-49E7-89CC-EF09952A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:id nace como string.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CD791E-442E-43FB-B2BD-F74C2150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14CAFE-AB07-4385-A025-D8CE3EF1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861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El hook normaliza y valida.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C7599-BF9E-4EA6-AA32-575552AE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D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DF530-B44B-45CE-A656-A272B098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La API recibe un number válido.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A32F30-60CA-47DC-8EB8-277883DB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524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c587fc8e141e1"/>
          <a:stretch xmlns:a="http://schemas.openxmlformats.org/drawingml/2006/main"/>
        </p:blipFill>
        <p:spPr>
          <a:xfrm xmlns:a="http://schemas.openxmlformats.org/drawingml/2006/main">
            <a:off x="4267200" y="2174334"/>
            <a:ext cx="7181850" cy="3033206"/>
          </a:xfrm>
          <a:prstGeom xmlns:a="http://schemas.openxmlformats.org/drawingml/2006/main" prst="roundRect">
            <a:avLst>
              <a:gd name="adj" fmla="val 2508"/>
            </a:avLst>
          </a:prstGeom>
        </p:spPr>
      </p:pic>
    </p:spTree>
    <p:extLst>
      <p:ext uri="{BB962C8B-B14F-4D97-AF65-F5344CB8AC3E}">
        <p14:creationId xmlns:p14="http://schemas.microsoft.com/office/powerpoint/2010/main" val="20405528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153A25-829A-4535-823C-E308D1A7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E72AA-6C5C-430A-A8BA-194589E3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35D8E-8F9A-416D-B086-99FC6D94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671DB-4DB9-4B79-B3A2-E6F13BBA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9F4FC-6BBE-40B4-80DC-073E31D5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b554b26bd4efd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12E00-5443-46FD-B645-25C3165A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Tres decisiones mantienen el flujo coherente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2012E-EE86-4D55-946A-1834D4A5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Cada situación tiene una representación y una responsabilidad explícita.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7C1E8-3315-4267-AEE9-0C9D93C6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7D7B"/>
                </a:solidFill>
              </a:defRPr>
            </a:pPr>
            <a:r>
              <a:rPr sz="1125" b="1">
                <a:solidFill>
                  <a:srgbClr val="2D7D7B"/>
                </a:solidFill>
              </a:rPr>
              <a:t>Situación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B19CA-044F-4789-8D39-8936E2EF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383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7D7B"/>
                </a:solidFill>
              </a:defRPr>
            </a:pPr>
            <a:r>
              <a:rPr sz="1125" b="1">
                <a:solidFill>
                  <a:srgbClr val="2D7D7B"/>
                </a:solidFill>
              </a:rPr>
              <a:t>Respuesta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786281-D1C9-4ADC-9539-3A6AC506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7D7B"/>
                </a:solidFill>
              </a:defRPr>
            </a:pPr>
            <a:r>
              <a:rPr sz="1125" b="1">
                <a:solidFill>
                  <a:srgbClr val="2D7D7B"/>
                </a:solidFill>
              </a:rPr>
              <a:t>Decisión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47120-AF44-4C3B-987E-B9990AB1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81EF41-A300-4FED-B021-A471A5B7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Navegación interna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617DD2-7D4D-4E46-B212-DECAF59E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337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Usar &lt;Link to&gt;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DCFFE-B1CF-48A7-8B9B-C7D2FB89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6702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Conservar la experiencia SPA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2AAA2-E6EF-4535-9C67-BF9C1B80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03845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16CB4-9990-4D19-80D0-011A722F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Recurso ausente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ABB5B8-D725-4147-97D4-F6E9F12C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862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ED8CC"/>
                </a:solidFill>
              </a:defRPr>
            </a:pPr>
            <a:r>
              <a:rPr sz="1350" b="0">
                <a:solidFill>
                  <a:srgbClr val="DED8CC"/>
                </a:solidFill>
              </a:rPr>
              <a:t>404 → null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3848D1-23A8-4846-A850-95C90831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952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ED8CC"/>
                </a:solidFill>
              </a:defRPr>
            </a:pPr>
            <a:r>
              <a:rPr sz="1275" b="0">
                <a:solidFill>
                  <a:srgbClr val="DED8CC"/>
                </a:solidFill>
              </a:rPr>
              <a:t>Mostrar “no encontrado”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0E475-FB09-4E73-8E9C-F0812C47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4775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CC483-78D8-4744-AA7C-F3AAC293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Ruta desconocida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62D77-2D9F-470E-91B8-D275F93F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387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Route path="*"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297453-6ADE-4F70-9D10-07EFF57E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72025"/>
            <a:ext cx="361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77B"/>
                </a:solidFill>
              </a:defRPr>
            </a:pPr>
            <a:r>
              <a:rPr sz="1275" b="0">
                <a:solidFill>
                  <a:srgbClr val="60777B"/>
                </a:solidFill>
              </a:rPr>
              <a:t>Ofrecer una salida válida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2DB250-0D09-4E7E-9D67-9D915E3A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435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1">
                <a:solidFill>
                  <a:srgbClr val="163A43"/>
                </a:solidFill>
              </a:defRPr>
            </a:pPr>
            <a:r>
              <a:rPr sz="1275" b="0" i="1">
                <a:solidFill>
                  <a:srgbClr val="163A43"/>
                </a:solidFill>
              </a:rPr>
              <a:t>En producción, el servidor también debe reenviar rutas de la SPA a index.html.</a:t>
            </a:r>
          </a:p>
        </p:txBody>
      </p:sp>
    </p:spTree>
    <p:extLst>
      <p:ext uri="{BB962C8B-B14F-4D97-AF65-F5344CB8AC3E}">
        <p14:creationId xmlns:p14="http://schemas.microsoft.com/office/powerpoint/2010/main" val="2569982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6FACC8-3122-4752-9A57-F9AA70E5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FC4E24-6AF0-43F2-B453-7C24AA26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D672D-3BE8-44DE-8903-544255DD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383A49-B219-4346-89D4-31012035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1F85F-6AD5-47C3-A7D5-80BDC2B9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437563ce64007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2DF0E-BCC0-434D-B14F-E0CF95AA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El detalle necesita cuatro estados explícitos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83E66-456C-453E-A1FB-F2B46FB6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La ruta puede ser válida aunque el recurso no exista; 404 no es lo mismo que un fallo de 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9364C-96FB-4AA2-8D69-182E0433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2524125" cy="304800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D8315-C857-49E2-B638-E9C51E86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CARGA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3E75E-D614-4109-8543-53A41A4A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67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loading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24AFE-86F3-4349-8C87-5215432A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2076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F175B-3738-40F0-A391-1CC52E3A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148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“Cargando detalle…”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CEA5D-B793-4B12-A154-AE33D86C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38375"/>
            <a:ext cx="2524125" cy="304800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E8D4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7B264-47EE-4AE6-A401-22C9C56C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ERROR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123A57-AC28-4741-AFD4-4D0771C5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067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1A0B2-8B1F-4067-9E29-666B0955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57625"/>
            <a:ext cx="2076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67ED04-BA13-4165-8A69-434782E4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1148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Mensaje + botón retry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8339E-8612-4C45-ACA7-CC4E224A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38375"/>
            <a:ext cx="2524125" cy="304800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E5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A03C9-F71D-4954-A546-C939A6C9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AUSENTE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C898B4-073C-4EEF-AB53-6CDA6FB9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67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notFound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F69D8-C40C-4F4F-8233-99917D2F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57625"/>
            <a:ext cx="2076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70F91C-0868-474D-A0D0-AB9F9B3B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148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“Personaje no encontrado”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7CE82B-2DAC-4713-BEC5-6B2785A9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238375"/>
            <a:ext cx="2524125" cy="304800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D4E3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D388BE-852F-4C3D-9CDF-FA0373E2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495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2D7D7B"/>
                </a:solidFill>
              </a:defRPr>
            </a:pPr>
            <a:r>
              <a:rPr sz="975" b="1">
                <a:solidFill>
                  <a:srgbClr val="2D7D7B"/>
                </a:solidFill>
              </a:rPr>
              <a:t>ÉXITO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B18B20-8510-4128-87F5-96B88BFE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670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character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4039CA-1EF2-41E7-BC42-3C190314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57625"/>
            <a:ext cx="2076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5138B5-53EA-4BD1-B7B6-3253929E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114800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Atributos + episodios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E5FF90-A8CA-4774-8C15-8E0A7CE4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845"/>
                </a:solidFill>
              </a:defRPr>
            </a:pPr>
            <a:r>
              <a:rPr sz="1650" b="1">
                <a:solidFill>
                  <a:srgbClr val="003845"/>
                </a:solidFill>
              </a:rPr>
              <a:t>Robustez = validar, cancelar, reintentar y distinguir ausencia de error.</a:t>
            </a:r>
          </a:p>
        </p:txBody>
      </p:sp>
    </p:spTree>
    <p:extLst>
      <p:ext uri="{BB962C8B-B14F-4D97-AF65-F5344CB8AC3E}">
        <p14:creationId xmlns:p14="http://schemas.microsoft.com/office/powerpoint/2010/main" val="19213639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671CD8-7687-4664-BB7E-5408ECB2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27981-18FC-4AA9-A39F-C5850637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REACT NAVEGABLE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9B82A-2F2B-4B5E-AA98-4DC54315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39C23-A054-416C-A3AD-25247A0B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226A9-C3BD-452D-BE04-FEA9DC3F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fce57b5efe49a4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BF229-F0E4-4BAB-B842-DEE71B2E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El feature separa dominio, infraestructura y presentación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997C4-D6FB-4F14-AA79-EE59FC15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AppRouter compone; presentation orquesta; domain modela; infrastructure consulta y mapea.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E3872-7569-46D4-8541-09B7444A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33750"/>
            <a:ext cx="16192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2DB48-58AE-46BB-BE2A-0CEC1BE4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6192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D25A88-0201-41E1-A852-135250E2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33750"/>
            <a:ext cx="11430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D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BFBB31-B7BA-49B9-88FE-679CBCE2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9451F4-3646-40A4-A508-1E3BBE98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765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845"/>
                </a:solidFill>
              </a:defRPr>
            </a:pPr>
            <a:r>
              <a:rPr sz="1650" b="1">
                <a:solidFill>
                  <a:srgbClr val="003845"/>
                </a:solidFill>
              </a:rPr>
              <a:t>app/router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9E88E-D2A9-4B33-A036-03574767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76625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77B"/>
                </a:solidFill>
              </a:defRPr>
            </a:pPr>
            <a:r>
              <a:rPr sz="1200" b="0">
                <a:solidFill>
                  <a:srgbClr val="60777B"/>
                </a:solidFill>
              </a:rPr>
              <a:t>AppRouter + Provider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91287-35C5-4A7C-8694-E19B367C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717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03845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DD19C-4753-4B48-B113-8FAE472D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8765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81201B-E45B-47F1-99AD-0A063975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476625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ED8CC"/>
                </a:solidFill>
              </a:defRPr>
            </a:pPr>
            <a:r>
              <a:rPr sz="1200" b="0">
                <a:solidFill>
                  <a:srgbClr val="DED8CC"/>
                </a:solidFill>
              </a:rPr>
              <a:t>Pages + hooks + Context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6821C-633B-4673-8FCA-B559C71D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2095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C02B27-2EE6-4C5A-A02D-0424F61C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76550"/>
            <a:ext cx="1752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845"/>
                </a:solidFill>
              </a:defRPr>
            </a:pPr>
            <a:r>
              <a:rPr sz="1650" b="1">
                <a:solidFill>
                  <a:srgbClr val="003845"/>
                </a:solidFill>
              </a:rPr>
              <a:t>domain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75F34C-9166-4A64-AE39-890DCE46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76625"/>
            <a:ext cx="1752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77B"/>
                </a:solidFill>
              </a:defRPr>
            </a:pPr>
            <a:r>
              <a:rPr sz="1200" b="0">
                <a:solidFill>
                  <a:srgbClr val="60777B"/>
                </a:solidFill>
              </a:rPr>
              <a:t>Entidades tipadas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CB8B2-D8AA-4DF2-AB04-71335A4F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71750"/>
            <a:ext cx="1714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69B7BA-3FE6-476D-BB37-9AC347D8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8765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845"/>
                </a:solidFill>
              </a:defRPr>
            </a:pPr>
            <a:r>
              <a:rPr sz="1650" b="1">
                <a:solidFill>
                  <a:srgbClr val="003845"/>
                </a:solidFill>
              </a:rPr>
              <a:t>infra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31C51-1DE5-4F1C-BF5C-5D71314B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476625"/>
            <a:ext cx="1371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0777B"/>
                </a:solidFill>
              </a:defRPr>
            </a:pPr>
            <a:r>
              <a:rPr sz="1200" b="0">
                <a:solidFill>
                  <a:srgbClr val="60777B"/>
                </a:solidFill>
              </a:rPr>
              <a:t>API + DTO mapping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EF621F-947E-43D9-973C-10824A91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953000"/>
            <a:ext cx="490537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ED8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CFD816-89C4-46F3-ACCC-0ABD0E7E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9675"/>
            <a:ext cx="471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845"/>
                </a:solidFill>
              </a:defRPr>
            </a:pPr>
            <a:r>
              <a:rPr sz="1050" b="1">
                <a:solidFill>
                  <a:srgbClr val="003845"/>
                </a:solidFill>
              </a:rPr>
              <a:t>AppRouter → presentation → domain ←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14107559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982735-A7BA-408D-A9D0-2BAAB728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97403-1FE1-4F04-AA46-924AE8D0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APLICACIÓN PRÁCTICA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6F5DC-9281-42AA-8ACB-F04A32E0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EBD89-1EB2-4BB9-B042-E3CFDFBC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7C3E4-D554-401C-9E14-02A14E71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33566a3a40452a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3138D-A1E8-4F0F-B22A-B1817475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28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3845"/>
                </a:solidFill>
              </a:defRPr>
            </a:pPr>
            <a:r>
              <a:rPr sz="3000" b="1">
                <a:solidFill>
                  <a:srgbClr val="003845"/>
                </a:solidFill>
              </a:rPr>
              <a:t>El live coding sigue el historial real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CB5507-9CD4-46E3-B5BB-D9541C5B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0777B"/>
                </a:solidFill>
              </a:defRPr>
            </a:pPr>
            <a:r>
              <a:rPr sz="1575" b="0">
                <a:solidFill>
                  <a:srgbClr val="60777B"/>
                </a:solidFill>
              </a:rPr>
              <a:t>Cinco bloques reproducen e6bfc34..996b474; el refactor por feature se muestra preparado.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202BA-7E53-43DA-AEE7-0CFE677E5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84B63-D797-4ECC-B251-4CD4B944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95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Router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9EBDB4-892A-449C-ABE0-DDB13D2D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241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BrowserRouter + CatalogPage + AppRouter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A5C65-6FBB-4421-9320-EC509987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9EB274-E6DE-434D-ADAE-F239661C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Navegación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11553-79CE-4551-9E64-C9B2CCB4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718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Tarjeta completa → /characters/:id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C1182-3DC1-468C-BBDE-A6844F9B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1E9D5-BEBC-4DA9-AF47-F38B8B57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90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Detalle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D5ED4B-1400-46E4-A43A-E5C7B598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195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Entidad + API + useCharacterDetail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7097A9-729A-4F40-8630-77052ABB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56E00-C5BC-471F-B709-D7393FC2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386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Robustez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B7393-C270-4367-AB37-82F9E532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672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Validación + retry + Context + 404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38CD0B-1580-4B2E-8377-85D9F4EF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52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D7D7B"/>
                </a:solidFill>
              </a:defRPr>
            </a:pPr>
            <a:r>
              <a:rPr sz="1050" b="1">
                <a:solidFill>
                  <a:srgbClr val="2D7D7B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382909-17BB-44B3-A31C-88461833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86350"/>
            <a:ext cx="1857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3845"/>
                </a:solidFill>
              </a:defRPr>
            </a:pPr>
            <a:r>
              <a:rPr sz="1575" b="1">
                <a:solidFill>
                  <a:srgbClr val="003845"/>
                </a:solidFill>
              </a:rPr>
              <a:t>Cierre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46E853-25A3-4509-9764-251FCD4F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1492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63A43"/>
                </a:solidFill>
              </a:defRPr>
            </a:pPr>
            <a:r>
              <a:rPr sz="1350" b="0">
                <a:solidFill>
                  <a:srgbClr val="163A43"/>
                </a:solidFill>
              </a:rPr>
              <a:t>Refactor por feature + typecheck/lint/build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8b9d02d334af7"/>
          <a:srcRect xmlns:a="http://schemas.openxmlformats.org/drawingml/2006/main" l="21401" t="0" r="214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0625" y="2381250"/>
            <a:ext cx="2857500" cy="333375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E1628B-547C-41CB-B0B6-6F7C74C1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857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16D37-BC39-42AE-AEA3-91543DCE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0540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LIVE CODING</a:t>
            </a:r>
          </a:p>
        </p:txBody>
      </p:sp>
    </p:spTree>
    <p:extLst>
      <p:ext uri="{BB962C8B-B14F-4D97-AF65-F5344CB8AC3E}">
        <p14:creationId xmlns:p14="http://schemas.microsoft.com/office/powerpoint/2010/main" val="16017715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61660B-AB7E-4485-B60F-5ABB1F2A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944DE-E747-4302-9FB5-3556A4B6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D7D7B"/>
                </a:solidFill>
              </a:defRPr>
            </a:pPr>
            <a:r>
              <a:rPr sz="900" b="1">
                <a:solidFill>
                  <a:srgbClr val="2D7D7B"/>
                </a:solidFill>
              </a:rPr>
              <a:t>FUENTES Y CONTINUIDAD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6E008-59CC-45A6-ADCA-652F0FA0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0777B"/>
                </a:solidFill>
              </a:defRPr>
            </a:pPr>
            <a:r>
              <a:rPr sz="900" b="0">
                <a:solidFill>
                  <a:srgbClr val="60777B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BBE12-79CB-4669-9739-D5A80076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8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59AE8-E2E0-438F-8F20-C03EB1AA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81775"/>
            <a:ext cx="3333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FFFFFF"/>
                </a:solidFill>
              </a:defRPr>
            </a:pPr>
            <a:r>
              <a:rPr sz="750" b="0">
                <a:solidFill>
                  <a:srgbClr val="FFFFFF"/>
                </a:solidFill>
              </a:rPr>
              <a:t>Mentoría Front-End · React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82b0d83ec4104"/>
          <a:stretch xmlns:a="http://schemas.openxmlformats.org/drawingml/2006/main"/>
        </p:blipFill>
        <p:spPr>
          <a:xfrm xmlns:a="http://schemas.openxmlformats.org/drawingml/2006/main">
            <a:off x="10191750" y="6564037"/>
            <a:ext cx="1428750" cy="1688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132E15-894C-4A3E-BA34-97DD0CA4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03845"/>
                </a:solidFill>
              </a:defRPr>
            </a:pPr>
            <a:r>
              <a:rPr sz="2850" b="1">
                <a:solidFill>
                  <a:srgbClr val="003845"/>
                </a:solidFill>
              </a:rPr>
              <a:t>Referencias y repositorio de la sesión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CC1C5-AE84-421B-B486-1B5C315F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0777B"/>
                </a:solidFill>
              </a:defRPr>
            </a:pPr>
            <a:r>
              <a:rPr sz="1350" b="0">
                <a:solidFill>
                  <a:srgbClr val="60777B"/>
                </a:solidFill>
              </a:rPr>
              <a:t>Documentación primaria y código real utilizados para validar la sesión.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91F99-837C-42DA-A78B-D99D2025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React Router · instalación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FD7B9-D8DE-4CA3-9B1C-6805C888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BrowserRouter y modo declarativo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9D47F-F1EB-4A64-9613-19DFB20F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reactrouter.com/start/declarative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D5996-0B6A-4F14-9715-F5905A98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989D23-BB96-4C83-A5FF-77C335AA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React Router · routing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68BD7-6407-426D-A1A8-7F61BA08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860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Routes, Route, Link y useParams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E3249B-2604-4F0A-94B3-7C992236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860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reactrouter.com/start/declarative/routing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AD7BB-7B36-4F71-B5B1-8E619D9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96599-B9FF-44A7-A7E2-54CD8543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290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React API Reference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E14743-D93E-413A-BB4A-C582CC8C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290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useEffect y Effect cleanup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7CCF9E-0DCE-4255-BF24-98642E36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290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react.dev/reference/react/useEffect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919BD-4A29-4BAC-84D2-DAB05E7D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54952D-099A-4AC7-9F6A-B1E9825D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719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Rick and Morty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8634CB-9AD6-4773-ACC9-50CDA977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7197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Personajes por identificador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08F1A-E69A-47C3-9491-3B6C0FC2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7197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rickandmortyapi.com/documentation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0B2D8-2586-4D77-B5AA-1BD1F1DF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2612D2-A210-4FC6-B0D6-E727221A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149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3845"/>
                </a:solidFill>
              </a:defRPr>
            </a:pPr>
            <a:r>
              <a:rPr sz="1425" b="1">
                <a:solidFill>
                  <a:srgbClr val="003845"/>
                </a:solidFill>
              </a:rPr>
              <a:t>React Router · useParams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D414F2-B636-442D-AE69-6674FB6D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114925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63A43"/>
                </a:solidFill>
              </a:defRPr>
            </a:pPr>
            <a:r>
              <a:rPr sz="1275" b="0">
                <a:solidFill>
                  <a:srgbClr val="163A43"/>
                </a:solidFill>
              </a:rPr>
              <a:t>Segmentos dinámicos de URL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74F5D9-65FE-4409-8E4D-11AFBDBF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149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2D7D7B"/>
                </a:solidFill>
              </a:defRPr>
            </a:pPr>
            <a:r>
              <a:rPr sz="1125" b="0">
                <a:solidFill>
                  <a:srgbClr val="2D7D7B"/>
                </a:solidFill>
              </a:rPr>
              <a:t>reactrouter.com/api/hooks/useParams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2690C1-EB33-4EC0-BC89-4C60828F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1062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EBDB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91119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9532bdf1d4a88"/>
          <a:srcRect xmlns:a="http://schemas.openxmlformats.org/drawingml/2006/main" l="0" t="485" r="0" b="4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6A1A2-6ADC-433A-8465-7F46B49E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001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Gracias por su participación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C4771-962A-417F-8DA9-6F8E6439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1450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>
                <a:solidFill>
                  <a:srgbClr val="D8E1E2"/>
                </a:solidFill>
              </a:defRPr>
            </a:pPr>
            <a:r>
              <a:rPr sz="1425">
                <a:solidFill>
                  <a:srgbClr val="D8E1E2"/>
                </a:solidFill>
              </a:rPr>
              <a:t>Cerramos con navegación declarativa, detalle tipado, filtros persistentes y una arquitectura por feature verificada.</a:t>
            </a:r>
          </a:p>
        </p:txBody>
      </p:sp>
    </p:spTree>
    <p:extLst>
      <p:ext uri="{BB962C8B-B14F-4D97-AF65-F5344CB8AC3E}">
        <p14:creationId xmlns:p14="http://schemas.microsoft.com/office/powerpoint/2010/main" val="1377196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2026-09-03T18:23:48.1860000Z</dcterms:created>
  <dcterms:modified xsi:type="dcterms:W3CDTF">2026-09-03T18:23:48.1860000Z</dcterms:modified>
</coreProperties>
</file>