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https://react.dev/learn/thinking-in-react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https://react.dev/learn/render-and-commit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https://react.dev/learn/your-first-component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https://react.dev/learn/your-first-component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https://react.dev/learn/writing-markup-with-jsx</a:t>
            </a:r>
          </a:p>
          <a:p>
            <a:r>
              <a:t>- https://react.dev/learn/javascript-in-jsx-with-curly-braces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https://react.dev/learn/passing-props-to-a-component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https://react.dev/learn/state-a-components-memory</a:t>
            </a:r>
          </a:p>
          <a:p>
            <a:r>
              <a:t>- https://react.dev/reference/react/useState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https://react.dev/learn/conditional-rendering</a:t>
            </a:r>
          </a:p>
          <a:p>
            <a:r>
              <a:t>- https://react.dev/learn/rendering-lists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https://react.dev/learn/synchronizing-with-effects</a:t>
            </a:r>
          </a:p>
          <a:p>
            <a:r>
              <a:t>- https://react.dev/reference/react/useEffect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https://react.dev/reference/react/useEffect</a:t>
            </a:r>
          </a:p>
          <a:p>
            <a:r>
              <a:t>- https://developer.mozilla.org/docs/Web/API/Fetch_API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https://react.dev/reference/react/useEffect</a:t>
            </a:r>
          </a:p>
          <a:p>
            <a:r>
              <a:t>- https://react.dev/reference/react/StrictMode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https://react.dev/learn/conditional-rendering</a:t>
            </a:r>
          </a:p>
          <a:p>
            <a:r>
              <a:t>- https://developer.mozilla.org/docs/Web/API/Fetch_API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https://react.dev/learn/thinking-in-react</a:t>
            </a:r>
          </a:p>
          <a:p>
            <a:r>
              <a:t>- https://rickandmortyapi.com/documentation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el editor y seguir la guía de live coding. Esta lámina es solo la transición.</a:t>
            </a:r>
          </a:p>
          <a:p>
            <a:endParaRPr/>
          </a:p>
          <a:p>
            <a:r>
              <a:t>[Sources]</a:t>
            </a:r>
          </a:p>
          <a:p>
            <a:r>
              <a:t>- https://rickandmortyapi.com/documentation</a:t>
            </a:r>
          </a:p>
          <a:p>
            <a:r>
              <a:t>- https://vite.dev/guide/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https://react.dev/learn</a:t>
            </a:r>
          </a:p>
          <a:p>
            <a:r>
              <a:t>- https://react.dev/reference/react</a:t>
            </a:r>
          </a:p>
          <a:p>
            <a:r>
              <a:t>- https://developer.mozilla.org/docs/Web/API/Fetch_API</a:t>
            </a:r>
          </a:p>
          <a:p>
            <a:r>
              <a:t>- https://rickandmortyapi.com/documentation</a:t>
            </a:r>
          </a:p>
          <a:p>
            <a:r>
              <a:t>- https://vite.dev/guide/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A27AA4-5878-4376-BC1F-8C820A5905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rcRect l="27783" r="2778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4EE30DD-B21E-4F71-A756-57DB48E8A84F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4572000" cy="1190625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2700646-1A6E-42C3-BD6A-2787E759F365}"/>
              </a:ext>
            </a:extLst>
          </p:cNvPr>
          <p:cNvSpPr>
            <a:spLocks noGrp="1"/>
          </p:cNvSpPr>
          <p:nvPr/>
        </p:nvSpPr>
        <p:spPr>
          <a:xfrm>
            <a:off x="7620000" y="5715000"/>
            <a:ext cx="4572000" cy="1143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3EBC57-DF35-4DB2-9FED-ACB139AA3637}"/>
              </a:ext>
            </a:extLst>
          </p:cNvPr>
          <p:cNvSpPr>
            <a:spLocks noGrp="1"/>
          </p:cNvSpPr>
          <p:nvPr/>
        </p:nvSpPr>
        <p:spPr>
          <a:xfrm>
            <a:off x="742950" y="8572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D7D7B"/>
                </a:solidFill>
              </a:defRPr>
            </a:pPr>
            <a:r>
              <a:rPr sz="1350" b="1">
                <a:solidFill>
                  <a:srgbClr val="2D7D7B"/>
                </a:solidFill>
              </a:rPr>
              <a:t>SESIÓN 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CBE0FD-B60E-4B18-AE40-BCD74B4672C2}"/>
              </a:ext>
            </a:extLst>
          </p:cNvPr>
          <p:cNvSpPr>
            <a:spLocks noGrp="1"/>
          </p:cNvSpPr>
          <p:nvPr/>
        </p:nvSpPr>
        <p:spPr>
          <a:xfrm>
            <a:off x="742950" y="1543050"/>
            <a:ext cx="6667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Fundamentos</a:t>
            </a:r>
          </a:p>
          <a:p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de React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02501B-E912-42A1-9FCE-F5C310D8B8D2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638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0">
                <a:solidFill>
                  <a:srgbClr val="163A43"/>
                </a:solidFill>
              </a:defRPr>
            </a:pPr>
            <a:r>
              <a:rPr sz="2025" b="0">
                <a:solidFill>
                  <a:srgbClr val="163A43"/>
                </a:solidFill>
              </a:rPr>
              <a:t>De los componentes a la sincronización con una API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76C97DB3-C1C6-4027-9EC2-D32DECFA0F37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5905500" cy="19050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36720C8-840D-4A4E-BD84-1CF9C3F5A8B9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Mentoría Front-End · 60 minutos</a:t>
            </a: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39125" y="483854"/>
            <a:ext cx="3095625" cy="365792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B95467C-0ABB-45B4-BD39-1AF945FBAD41}"/>
              </a:ext>
            </a:extLst>
          </p:cNvPr>
          <p:cNvSpPr>
            <a:spLocks noGrp="1"/>
          </p:cNvSpPr>
          <p:nvPr/>
        </p:nvSpPr>
        <p:spPr>
          <a:xfrm>
            <a:off x="8020050" y="6000750"/>
            <a:ext cx="3762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TEORÍA · EJEMPLOS · PRÁCTICA</a:t>
            </a:r>
          </a:p>
        </p:txBody>
      </p:sp>
    </p:spTree>
    <p:extLst>
      <p:ext uri="{BB962C8B-B14F-4D97-AF65-F5344CB8AC3E}">
        <p14:creationId xmlns:p14="http://schemas.microsoft.com/office/powerpoint/2010/main" val="49143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F7788CF-544C-4E99-A75A-5F9F890366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91A35A-CBF4-4AEC-AE98-CA37DCD01A9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C4D4FB-E428-42C6-9ACB-D0C5DB4E6DB9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71D718-D18F-4A99-9075-ACFE23BBDDF1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B392DA-131F-4A46-80DC-49B7783C465E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6" name="Imagen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732A9CA-C7EF-46F5-8F16-3D7FFAC32AD0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React propone un modelo mental, no solo una sintaxis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1C2FB0-BA52-4C38-B94B-6967EB83F0A2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sesión avanza desde las piezas de interfaz hasta la comunicación con datos externos.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DEF4EF5-4D1F-4E34-B605-ECB1CF53BEEE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8768E4-70CA-4198-8DAC-D2780EDCE85D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CF7FA2-1F61-453A-9AEB-B427D93959DD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Componentes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F83F2FE-972C-490C-8B9E-00F2BB09F522}"/>
              </a:ext>
            </a:extLst>
          </p:cNvPr>
          <p:cNvSpPr>
            <a:spLocks noGrp="1"/>
          </p:cNvSpPr>
          <p:nvPr/>
        </p:nvSpPr>
        <p:spPr>
          <a:xfrm>
            <a:off x="742950" y="3790950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Dividir la interfaz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32998A6-FBE9-4F11-9A42-633C7310206F}"/>
              </a:ext>
            </a:extLst>
          </p:cNvPr>
          <p:cNvSpPr>
            <a:spLocks noGrp="1"/>
          </p:cNvSpPr>
          <p:nvPr/>
        </p:nvSpPr>
        <p:spPr>
          <a:xfrm>
            <a:off x="2790825" y="2381250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DC2BC6-79A8-41F3-8BF1-EBC4DF6CA539}"/>
              </a:ext>
            </a:extLst>
          </p:cNvPr>
          <p:cNvSpPr>
            <a:spLocks noGrp="1"/>
          </p:cNvSpPr>
          <p:nvPr/>
        </p:nvSpPr>
        <p:spPr>
          <a:xfrm>
            <a:off x="2981325" y="2609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13FC33-BBF3-4831-A5B8-CF66BC04FE73}"/>
              </a:ext>
            </a:extLst>
          </p:cNvPr>
          <p:cNvSpPr>
            <a:spLocks noGrp="1"/>
          </p:cNvSpPr>
          <p:nvPr/>
        </p:nvSpPr>
        <p:spPr>
          <a:xfrm>
            <a:off x="2981325" y="3162300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JSX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83071BA-21DE-4E33-A886-FAFBAB4091B6}"/>
              </a:ext>
            </a:extLst>
          </p:cNvPr>
          <p:cNvSpPr>
            <a:spLocks noGrp="1"/>
          </p:cNvSpPr>
          <p:nvPr/>
        </p:nvSpPr>
        <p:spPr>
          <a:xfrm>
            <a:off x="2981325" y="3790950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Describir la vista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911F1AC-7E6B-458A-8738-EE93A708DBA3}"/>
              </a:ext>
            </a:extLst>
          </p:cNvPr>
          <p:cNvSpPr>
            <a:spLocks noGrp="1"/>
          </p:cNvSpPr>
          <p:nvPr/>
        </p:nvSpPr>
        <p:spPr>
          <a:xfrm>
            <a:off x="5029200" y="2381250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E78F9A7-2D54-4AAC-AE6D-027964CAFDEE}"/>
              </a:ext>
            </a:extLst>
          </p:cNvPr>
          <p:cNvSpPr>
            <a:spLocks noGrp="1"/>
          </p:cNvSpPr>
          <p:nvPr/>
        </p:nvSpPr>
        <p:spPr>
          <a:xfrm>
            <a:off x="5219700" y="2609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9BF133-519F-4434-85A4-BE3AA1FBAF69}"/>
              </a:ext>
            </a:extLst>
          </p:cNvPr>
          <p:cNvSpPr>
            <a:spLocks noGrp="1"/>
          </p:cNvSpPr>
          <p:nvPr/>
        </p:nvSpPr>
        <p:spPr>
          <a:xfrm>
            <a:off x="5219700" y="3162300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Props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B397852-9EFD-4B83-83E6-9981E521A65A}"/>
              </a:ext>
            </a:extLst>
          </p:cNvPr>
          <p:cNvSpPr>
            <a:spLocks noGrp="1"/>
          </p:cNvSpPr>
          <p:nvPr/>
        </p:nvSpPr>
        <p:spPr>
          <a:xfrm>
            <a:off x="5219700" y="3790950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Comunicar datos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5DE13D6-992C-4238-AD65-2B1890E71581}"/>
              </a:ext>
            </a:extLst>
          </p:cNvPr>
          <p:cNvSpPr>
            <a:spLocks noGrp="1"/>
          </p:cNvSpPr>
          <p:nvPr/>
        </p:nvSpPr>
        <p:spPr>
          <a:xfrm>
            <a:off x="7267575" y="2381250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1232FE6-5222-4E41-8274-15434762BE0E}"/>
              </a:ext>
            </a:extLst>
          </p:cNvPr>
          <p:cNvSpPr>
            <a:spLocks noGrp="1"/>
          </p:cNvSpPr>
          <p:nvPr/>
        </p:nvSpPr>
        <p:spPr>
          <a:xfrm>
            <a:off x="7458075" y="2609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0AF538E-79BF-4A0E-80C9-BF3067A96021}"/>
              </a:ext>
            </a:extLst>
          </p:cNvPr>
          <p:cNvSpPr>
            <a:spLocks noGrp="1"/>
          </p:cNvSpPr>
          <p:nvPr/>
        </p:nvSpPr>
        <p:spPr>
          <a:xfrm>
            <a:off x="7458075" y="3162300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Estado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0333DE1-C26D-4358-B676-50251731A41E}"/>
              </a:ext>
            </a:extLst>
          </p:cNvPr>
          <p:cNvSpPr>
            <a:spLocks noGrp="1"/>
          </p:cNvSpPr>
          <p:nvPr/>
        </p:nvSpPr>
        <p:spPr>
          <a:xfrm>
            <a:off x="7458075" y="3790950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Recordar cambios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740BB0F-04D3-4BD4-B83C-093910AC02AB}"/>
              </a:ext>
            </a:extLst>
          </p:cNvPr>
          <p:cNvSpPr>
            <a:spLocks noGrp="1"/>
          </p:cNvSpPr>
          <p:nvPr/>
        </p:nvSpPr>
        <p:spPr>
          <a:xfrm>
            <a:off x="9505950" y="2381250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003845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AF3E1B3-3CA6-44AF-856F-77001878357A}"/>
              </a:ext>
            </a:extLst>
          </p:cNvPr>
          <p:cNvSpPr>
            <a:spLocks noGrp="1"/>
          </p:cNvSpPr>
          <p:nvPr/>
        </p:nvSpPr>
        <p:spPr>
          <a:xfrm>
            <a:off x="9696450" y="2609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CBBFAF"/>
                </a:solidFill>
              </a:defRPr>
            </a:pPr>
            <a:r>
              <a:rPr sz="1050" b="1">
                <a:solidFill>
                  <a:srgbClr val="CBBFAF"/>
                </a:solidFill>
              </a:rPr>
              <a:t>05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77858A-9586-4D04-9F26-33A18E75DB66}"/>
              </a:ext>
            </a:extLst>
          </p:cNvPr>
          <p:cNvSpPr>
            <a:spLocks noGrp="1"/>
          </p:cNvSpPr>
          <p:nvPr/>
        </p:nvSpPr>
        <p:spPr>
          <a:xfrm>
            <a:off x="9696450" y="3162300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Effects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E1E9898-916C-44A4-B761-BFCDED661CC7}"/>
              </a:ext>
            </a:extLst>
          </p:cNvPr>
          <p:cNvSpPr>
            <a:spLocks noGrp="1"/>
          </p:cNvSpPr>
          <p:nvPr/>
        </p:nvSpPr>
        <p:spPr>
          <a:xfrm>
            <a:off x="9696450" y="3790950"/>
            <a:ext cx="1571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Sincronizar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C9111EC-39C6-446D-8E06-A052A48AFFCA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10620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63A43"/>
                </a:solidFill>
              </a:defRPr>
            </a:pPr>
            <a:r>
              <a:rPr sz="1725" b="1">
                <a:solidFill>
                  <a:srgbClr val="163A43"/>
                </a:solidFill>
              </a:rPr>
              <a:t>Objetivo: comprender por qué React vuelve a renderizar y cuándo debe sincronizarse con una API.</a:t>
            </a:r>
          </a:p>
        </p:txBody>
      </p:sp>
    </p:spTree>
    <p:extLst>
      <p:ext uri="{BB962C8B-B14F-4D97-AF65-F5344CB8AC3E}">
        <p14:creationId xmlns:p14="http://schemas.microsoft.com/office/powerpoint/2010/main" val="190302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4C02375-9B19-4A54-A24A-B13DFD4AB7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54DA332-9313-4762-B91C-5E19FABEDAA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8438EF-4F4E-417A-AF50-FCAE05E8D1F5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7F7100-4345-4859-8FE7-EB86508A8D49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7C91F8-AF56-454F-AE75-555DEA33DD0B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5785446-FC47-4375-BBDB-3F7CA512EAF0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interfaz se deriva de los datos actuales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907D9D8-761D-4FF6-9250-A66C320C5630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React evalúa componentes y confirma únicamente los cambios necesarios en pantalla.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8A193A86-264C-43F3-8AB3-F43ECBD8B470}"/>
              </a:ext>
            </a:extLst>
          </p:cNvPr>
          <p:cNvSpPr>
            <a:spLocks noGrp="1"/>
          </p:cNvSpPr>
          <p:nvPr/>
        </p:nvSpPr>
        <p:spPr>
          <a:xfrm>
            <a:off x="3333750" y="3476625"/>
            <a:ext cx="1000125" cy="19050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0B472F1F-935A-458A-80F5-B39034F40F89}"/>
              </a:ext>
            </a:extLst>
          </p:cNvPr>
          <p:cNvSpPr>
            <a:spLocks noGrp="1"/>
          </p:cNvSpPr>
          <p:nvPr/>
        </p:nvSpPr>
        <p:spPr>
          <a:xfrm>
            <a:off x="6810375" y="3476625"/>
            <a:ext cx="1000125" cy="19050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37346A7-30A2-430D-BD0F-FA8418BB8B3D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6670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B7001E7-8A18-4A35-B475-C83CD101AA3B}"/>
              </a:ext>
            </a:extLst>
          </p:cNvPr>
          <p:cNvSpPr>
            <a:spLocks noGrp="1"/>
          </p:cNvSpPr>
          <p:nvPr/>
        </p:nvSpPr>
        <p:spPr>
          <a:xfrm>
            <a:off x="1085850" y="26479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ENTRADAS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3B206BC-460B-4EFD-97FC-A01640155204}"/>
              </a:ext>
            </a:extLst>
          </p:cNvPr>
          <p:cNvSpPr>
            <a:spLocks noGrp="1"/>
          </p:cNvSpPr>
          <p:nvPr/>
        </p:nvSpPr>
        <p:spPr>
          <a:xfrm>
            <a:off x="1085850" y="31623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Props + estado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B0EC97-6BBB-4923-BDCD-DD9FD9CEB93C}"/>
              </a:ext>
            </a:extLst>
          </p:cNvPr>
          <p:cNvSpPr>
            <a:spLocks noGrp="1"/>
          </p:cNvSpPr>
          <p:nvPr/>
        </p:nvSpPr>
        <p:spPr>
          <a:xfrm>
            <a:off x="1085850" y="382905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La información disponible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B155989-7303-45E8-A19E-9855997DE0AD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2667000" cy="2190750"/>
          </a:xfrm>
          <a:prstGeom prst="roundRect">
            <a:avLst>
              <a:gd name="adj" fmla="val 5217"/>
            </a:avLst>
          </a:prstGeom>
          <a:solidFill>
            <a:srgbClr val="003845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897AC48-FC0E-49DB-8D73-C0098A50E512}"/>
              </a:ext>
            </a:extLst>
          </p:cNvPr>
          <p:cNvSpPr>
            <a:spLocks noGrp="1"/>
          </p:cNvSpPr>
          <p:nvPr/>
        </p:nvSpPr>
        <p:spPr>
          <a:xfrm>
            <a:off x="4562475" y="26479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CBBFAF"/>
                </a:solidFill>
              </a:defRPr>
            </a:pPr>
            <a:r>
              <a:rPr sz="975" b="1">
                <a:solidFill>
                  <a:srgbClr val="CBBFAF"/>
                </a:solidFill>
              </a:rPr>
              <a:t>RENDER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1A30088-B796-43C3-83C5-85B6655C2F5F}"/>
              </a:ext>
            </a:extLst>
          </p:cNvPr>
          <p:cNvSpPr>
            <a:spLocks noGrp="1"/>
          </p:cNvSpPr>
          <p:nvPr/>
        </p:nvSpPr>
        <p:spPr>
          <a:xfrm>
            <a:off x="4562475" y="31623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Componentes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604C1CF-66CE-4201-90A5-D32C5399D8B0}"/>
              </a:ext>
            </a:extLst>
          </p:cNvPr>
          <p:cNvSpPr>
            <a:spLocks noGrp="1"/>
          </p:cNvSpPr>
          <p:nvPr/>
        </p:nvSpPr>
        <p:spPr>
          <a:xfrm>
            <a:off x="4562475" y="382905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React calcula la interfaz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5701F4A-CA07-48BF-BC84-1783E9DB253F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26670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7C51091-0168-4005-A081-B9357BC7B1C2}"/>
              </a:ext>
            </a:extLst>
          </p:cNvPr>
          <p:cNvSpPr>
            <a:spLocks noGrp="1"/>
          </p:cNvSpPr>
          <p:nvPr/>
        </p:nvSpPr>
        <p:spPr>
          <a:xfrm>
            <a:off x="8039100" y="26479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COMMIT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1BA564F-4812-4A1D-84B3-8236A26C07F4}"/>
              </a:ext>
            </a:extLst>
          </p:cNvPr>
          <p:cNvSpPr>
            <a:spLocks noGrp="1"/>
          </p:cNvSpPr>
          <p:nvPr/>
        </p:nvSpPr>
        <p:spPr>
          <a:xfrm>
            <a:off x="8039100" y="31623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DOM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675E0E4-52C3-4D25-9C16-50DF693B29D2}"/>
              </a:ext>
            </a:extLst>
          </p:cNvPr>
          <p:cNvSpPr>
            <a:spLocks noGrp="1"/>
          </p:cNvSpPr>
          <p:nvPr/>
        </p:nvSpPr>
        <p:spPr>
          <a:xfrm>
            <a:off x="8039100" y="382905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El navegador refleja cambios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693C7DE-9E7D-439D-96EF-557E34042606}"/>
              </a:ext>
            </a:extLst>
          </p:cNvPr>
          <p:cNvSpPr>
            <a:spLocks noGrp="1"/>
          </p:cNvSpPr>
          <p:nvPr/>
        </p:nvSpPr>
        <p:spPr>
          <a:xfrm>
            <a:off x="3952875" y="5105400"/>
            <a:ext cx="4286250" cy="342900"/>
          </a:xfrm>
          <a:prstGeom prst="roundRect">
            <a:avLst>
              <a:gd name="adj" fmla="val 33333"/>
            </a:avLst>
          </a:prstGeom>
          <a:solidFill>
            <a:srgbClr val="DED8CC"/>
          </a:solidFill>
          <a:ln w="0">
            <a:noFill/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C2635CD-923B-4779-85C7-D7404F34A560}"/>
              </a:ext>
            </a:extLst>
          </p:cNvPr>
          <p:cNvSpPr>
            <a:spLocks noGrp="1"/>
          </p:cNvSpPr>
          <p:nvPr/>
        </p:nvSpPr>
        <p:spPr>
          <a:xfrm>
            <a:off x="4048125" y="5172075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Declarativo: describimos qué debe verse</a:t>
            </a:r>
          </a:p>
        </p:txBody>
      </p:sp>
    </p:spTree>
    <p:extLst>
      <p:ext uri="{BB962C8B-B14F-4D97-AF65-F5344CB8AC3E}">
        <p14:creationId xmlns:p14="http://schemas.microsoft.com/office/powerpoint/2010/main" val="152097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710FB18-DA8B-43CA-BCEA-20C049E381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716408-DE03-459D-971D-542AC43AEB0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B24D35F-5224-459E-8004-37F0D87E70F2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7DC7D6A-99A2-443F-AC4D-BE5E871F0ADF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812E1D-4DA4-4C07-B081-9717510DE838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F5218C8-8559-450F-B693-F26D0F82CAC1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Un componente encapsula una parte de la interfaz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CE25AD-7989-4118-B287-790293568315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En React, un componente es una función con nombre en mayúscula que devuelve JSX.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A50177D-F8C6-43FD-81C4-E03F7501156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Pieza reutilizable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CEEF202-28F8-4AF7-8A76-B2A08FE5E573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D648F8C-D5A6-4541-84BA-C1368524F0DA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Tiene una responsabilidad clara.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B1EA268-01EE-4209-9671-E3704C7CA99A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D21FB70-11DE-4C44-96CB-29EBF54A975F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Puede recibir datos.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C32C616-996E-42FE-A0C9-5609167EE125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628D0A-C0A0-4905-A863-2A21538F289D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Puede componerse con otros.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CF95444-E4E9-4BA4-96E8-D4ACF7E7C058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7524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598850"/>
            <a:ext cx="6991350" cy="26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8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2DFBC38-033D-4CFF-B8EF-DDBFDEE41D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F4E39A3-4A53-401D-9BBB-1B1BF07C4AC6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728802F-CC00-49AD-91B8-53D302B6A9B1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5D9C69D-5A4C-4323-9037-2E67E5FD9605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0FE648B-AE51-49A4-89C4-D08A587A18D9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9C541D8-FBCA-4917-A72B-A84C6E8955D9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composición construye pantallas con piezas pequeñas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5D823B-C437-4DED-9FB5-CE433D783F4D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Un componente puede renderizar componentes hijos sin conocer sus detalles internos.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E0E1FA-B6CF-46C4-BAD3-933C35FD4E7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Padre + hijos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2437154-BAF7-44CC-AC6B-EC9BCE0E5BF4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CFC10B3-E9F5-4782-819B-D4270735D0F8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App organiza la pantalla.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54A0064-958E-4530-B0C0-2151BF3D740E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F062EF8-2212-48D3-9351-4C81B44FA91D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CharacterCard presenta un personaje.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BC2E7ED-1F84-48BB-B8F6-6CD33A2DC79E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8C2F9FB-4AC7-4C9A-A0A4-BAA532F0E3EE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La reutilización evita duplicación.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1F87825-E685-4A58-A728-1EFD338143CA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7524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598850"/>
            <a:ext cx="6991350" cy="26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6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C3A7212-4BD8-48E6-9BC1-5E7CCE55B6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98F39BE-EBF9-4305-B721-752B800D428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C017CF1-7B2C-4846-8F82-2427F7573281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9099F9-484F-433E-8BEB-56FB2B252FC5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45AD071-6D0E-4712-BD9A-949964CE01E9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845F087-F22F-4180-BD79-16C9CE74806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JSX permite describir la interfaz junto a su lógica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29859E-71E9-4226-B7B8-9487E9559A32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Se parece a HTML, pero es sintaxis de JavaScript y aplica reglas propias.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7337C8C-645F-499E-88E9-42BFEB6188C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Marcado expresivo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09EC4F3-163F-4737-9A49-42B642CB96D4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702703-82C9-4239-AF92-E7498FC0357C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Una raíz común.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12B9B62-8433-4037-9DD5-7AE371A7133A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E6D13B4-7B42-4FBE-AE21-07BE8B6A4307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Atributos como className.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39D75A4-BDE6-4706-B4EF-635B6775F06B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6530D80-BE52-4BB3-948F-8C068A94F289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Expresiones dentro de llaves.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5919ADC-56B4-4920-9B31-DE9CE9DBE77D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7524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598850"/>
            <a:ext cx="6991350" cy="26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7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0F150BA-C5E1-4825-A2B8-4A4681087A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CDB17B-5B2E-42B5-8999-59B5C874AF0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7E584D-EAA1-47C7-903C-72B98640F3F1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3204A3-A1AC-4B6B-A1F4-3261AB4AA685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F7055B4-3895-449C-9777-D24538F617D4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5FA3320-6CDB-4BD1-B391-51E0584C8C2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Las props llevan información del padre al hijo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8B4038-6587-4C0E-A568-FC7B04808EE9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Son entradas de solo lectura que permiten personalizar un componente.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AC55D1-8194-4E8F-AEC1-267F120B8B16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Flujo descendente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DFDB717-1EEE-4A5B-9088-E5FED2D8F199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9CD635-680C-403B-8F03-556FD889E031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padre decide qué enviar.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0ABB5AC-7177-46EE-AB9C-07FAB2069B61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4B22259-A4BA-4586-8EC9-8CBB058FFC53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hijo decide cómo mostrarlo.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8232235-C62A-4784-8E26-33FFF76350D6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F5782C3-E439-450B-9BCA-FE0A935B72B1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No se modifican dentro del hijo.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CDB7069-BABE-436F-908A-E0D456074ECA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7524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598850"/>
            <a:ext cx="6991350" cy="26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85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0A09944-2A25-4A23-827E-6E31B3E766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4011E2E-80CE-4D2F-BEBC-7B9C04BC463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3DB44ED-5B1F-40D7-B9BA-A464A2BE2434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112192-7685-43F8-AA57-8DAECBADB7D1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52ECEA-D19F-4072-BDB0-0C422A6AFA50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A7DFF74-BF48-447F-9327-CF1BA993000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estado conserva información entre renderizados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969D731-A7CE-460E-9990-3DC857E20E94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useState devuelve el valor actual y una función para solicitar una actualización.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71AE3AD-4EF5-487F-89FA-05512771B30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Memoria local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4E3EE7B-DA0B-40B7-BCAB-FE2B72CBAA06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8DA694-BD0E-42A6-B093-CBEDB40020FA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La variable describe el presente.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B7737B6-FA62-41FE-BA67-09833423583A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7EFFD0D-1685-46FA-8812-AB0A8297EC9B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setState solicita otro render.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AB4A7E0-287B-46C4-82FA-B4068F975590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AF0E84E-D94B-4E95-A861-3C55AAA68A9E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No se modifica directamente.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0C6C5F1-DF0B-465E-9F52-4C638650D34A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7524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598850"/>
            <a:ext cx="6991350" cy="26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6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635F6DC-3128-4534-A441-81F0502E85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742476-4855-4821-9A02-0ABD7FF8D16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11EFFDD-2A38-45FF-9632-279C161DF8F1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A2B5CAA-F48A-4751-9D47-9B624A44C09E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4FA13B-F66A-469C-BD04-739E9AFFCE5A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6379C4F-C4BE-4DFA-8E59-7E4FFF4CF9CF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renderizado condicional convierte estado en interfaz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D760D11-30BC-409C-B997-9207CDD1C05F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pantalla debe expresar carga, error, vacío o éxito de forma explícita.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F78CE69-E70D-4A43-821B-52BB8CB4701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Decisiones visibles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4EC0CFE-0244-44E1-A033-22CF1A52379D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7863D4-FB59-4EDD-B0F4-896EF1E913D2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Condiciones para cada estado.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5DEB4C7-DE28-4071-9050-BE53842BB308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CB9DE95-014F-449F-B2AD-14E90DED8341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map para transformar colecciones.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F364FDE-C9DA-4518-A894-87FC71BDD0E1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972496-1F37-4830-96DA-16EB5AA1494F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key identifica cada elemento.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3FB64BD-8E5E-4D72-ADA9-A9E7E112D81F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7524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598850"/>
            <a:ext cx="6991350" cy="26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8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C91615D-7B89-43C3-A931-699911CE1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23E882-EF15-4252-8405-B447096E562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3A0AE2-7472-4DF0-AE42-A17D460E26E7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8D723B-76F3-44BB-9D6D-F1BA72B768C1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753031-82A3-412E-BF0D-7AC78AB26F84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7A963C6-8BF2-4053-AB96-784B308E7D4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Un Effect sincroniza React con un sistema externo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FC361E-87B7-4FA6-9031-848B967E663F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No reemplaza el render: ocurre después para coordinar red, DOM u otras APIs externas.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9EB2F450-ED76-40B8-BC47-8C84F375A023}"/>
              </a:ext>
            </a:extLst>
          </p:cNvPr>
          <p:cNvSpPr>
            <a:spLocks noGrp="1"/>
          </p:cNvSpPr>
          <p:nvPr/>
        </p:nvSpPr>
        <p:spPr>
          <a:xfrm>
            <a:off x="2457450" y="3048000"/>
            <a:ext cx="19050" cy="619125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26D9A985-5F52-41B3-908E-A89E5CA26CCE}"/>
              </a:ext>
            </a:extLst>
          </p:cNvPr>
          <p:cNvSpPr>
            <a:spLocks noGrp="1"/>
          </p:cNvSpPr>
          <p:nvPr/>
        </p:nvSpPr>
        <p:spPr>
          <a:xfrm>
            <a:off x="2457450" y="4381500"/>
            <a:ext cx="19050" cy="619125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5B20F32-6769-4123-B16B-14140A9C2AFB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914400" cy="914400"/>
          </a:xfrm>
          <a:prstGeom prst="ellipse">
            <a:avLst/>
          </a:prstGeom>
          <a:solidFill>
            <a:srgbClr val="DED8CC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0BE457-D632-4A16-BE0B-B5D68DCE358A}"/>
              </a:ext>
            </a:extLst>
          </p:cNvPr>
          <p:cNvSpPr>
            <a:spLocks noGrp="1"/>
          </p:cNvSpPr>
          <p:nvPr/>
        </p:nvSpPr>
        <p:spPr>
          <a:xfrm>
            <a:off x="2000250" y="2590800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BE1151-E5B6-4731-B969-E117E630BF17}"/>
              </a:ext>
            </a:extLst>
          </p:cNvPr>
          <p:cNvSpPr>
            <a:spLocks noGrp="1"/>
          </p:cNvSpPr>
          <p:nvPr/>
        </p:nvSpPr>
        <p:spPr>
          <a:xfrm>
            <a:off x="3333750" y="23526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Render inicial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F15E6A-1709-44DD-9385-178CE7A535B6}"/>
              </a:ext>
            </a:extLst>
          </p:cNvPr>
          <p:cNvSpPr>
            <a:spLocks noGrp="1"/>
          </p:cNvSpPr>
          <p:nvPr/>
        </p:nvSpPr>
        <p:spPr>
          <a:xfrm>
            <a:off x="3333750" y="27908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interfaz muestra el estado disponible.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E36383D-E6AB-4E1F-8725-AC5E9A11CE1A}"/>
              </a:ext>
            </a:extLst>
          </p:cNvPr>
          <p:cNvSpPr>
            <a:spLocks noGrp="1"/>
          </p:cNvSpPr>
          <p:nvPr/>
        </p:nvSpPr>
        <p:spPr>
          <a:xfrm>
            <a:off x="2000250" y="3667125"/>
            <a:ext cx="914400" cy="914400"/>
          </a:xfrm>
          <a:prstGeom prst="ellipse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81E97F4-1E4E-42BF-A8ED-BEDDF000F118}"/>
              </a:ext>
            </a:extLst>
          </p:cNvPr>
          <p:cNvSpPr>
            <a:spLocks noGrp="1"/>
          </p:cNvSpPr>
          <p:nvPr/>
        </p:nvSpPr>
        <p:spPr>
          <a:xfrm>
            <a:off x="2000250" y="3924300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B312119-58CE-4494-884C-6353D7C4D982}"/>
              </a:ext>
            </a:extLst>
          </p:cNvPr>
          <p:cNvSpPr>
            <a:spLocks noGrp="1"/>
          </p:cNvSpPr>
          <p:nvPr/>
        </p:nvSpPr>
        <p:spPr>
          <a:xfrm>
            <a:off x="3333750" y="36861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Effect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C79483-128B-40AD-B9BD-0C6F1BBD082D}"/>
              </a:ext>
            </a:extLst>
          </p:cNvPr>
          <p:cNvSpPr>
            <a:spLocks noGrp="1"/>
          </p:cNvSpPr>
          <p:nvPr/>
        </p:nvSpPr>
        <p:spPr>
          <a:xfrm>
            <a:off x="3333750" y="41243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Se inicia la petición a la API externa.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B10FF9E-B3C6-433C-9C98-D189F9B2CCA4}"/>
              </a:ext>
            </a:extLst>
          </p:cNvPr>
          <p:cNvSpPr>
            <a:spLocks noGrp="1"/>
          </p:cNvSpPr>
          <p:nvPr/>
        </p:nvSpPr>
        <p:spPr>
          <a:xfrm>
            <a:off x="2000250" y="5000625"/>
            <a:ext cx="914400" cy="914400"/>
          </a:xfrm>
          <a:prstGeom prst="ellipse">
            <a:avLst/>
          </a:prstGeom>
          <a:solidFill>
            <a:srgbClr val="DED8CC"/>
          </a:solidFill>
          <a:ln w="0">
            <a:noFill/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FF7905B-9A54-486C-8637-953160F2B421}"/>
              </a:ext>
            </a:extLst>
          </p:cNvPr>
          <p:cNvSpPr>
            <a:spLocks noGrp="1"/>
          </p:cNvSpPr>
          <p:nvPr/>
        </p:nvSpPr>
        <p:spPr>
          <a:xfrm>
            <a:off x="2000250" y="5257800"/>
            <a:ext cx="91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3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40B8A62-BDBE-433C-864F-F22CD91DC12F}"/>
              </a:ext>
            </a:extLst>
          </p:cNvPr>
          <p:cNvSpPr>
            <a:spLocks noGrp="1"/>
          </p:cNvSpPr>
          <p:nvPr/>
        </p:nvSpPr>
        <p:spPr>
          <a:xfrm>
            <a:off x="3333750" y="50196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Actualización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D59713E-E0A0-40BD-82EB-1FDA0BEE44DC}"/>
              </a:ext>
            </a:extLst>
          </p:cNvPr>
          <p:cNvSpPr>
            <a:spLocks noGrp="1"/>
          </p:cNvSpPr>
          <p:nvPr/>
        </p:nvSpPr>
        <p:spPr>
          <a:xfrm>
            <a:off x="3333750" y="54578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respuesta cambia el estado y React renderiza de nuevo.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A8AC1D5-78A4-441D-8E09-A37DA9493E6E}"/>
              </a:ext>
            </a:extLst>
          </p:cNvPr>
          <p:cNvSpPr>
            <a:spLocks noGrp="1"/>
          </p:cNvSpPr>
          <p:nvPr/>
        </p:nvSpPr>
        <p:spPr>
          <a:xfrm>
            <a:off x="8334375" y="2000250"/>
            <a:ext cx="2857500" cy="342900"/>
          </a:xfrm>
          <a:prstGeom prst="roundRect">
            <a:avLst>
              <a:gd name="adj" fmla="val 33333"/>
            </a:avLst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AAFAD7E-20B5-4C62-B017-F5110375B126}"/>
              </a:ext>
            </a:extLst>
          </p:cNvPr>
          <p:cNvSpPr>
            <a:spLocks noGrp="1"/>
          </p:cNvSpPr>
          <p:nvPr/>
        </p:nvSpPr>
        <p:spPr>
          <a:xfrm>
            <a:off x="8429625" y="20669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Effect ≠ evento del usuario</a:t>
            </a:r>
          </a:p>
        </p:txBody>
      </p:sp>
    </p:spTree>
    <p:extLst>
      <p:ext uri="{BB962C8B-B14F-4D97-AF65-F5344CB8AC3E}">
        <p14:creationId xmlns:p14="http://schemas.microsoft.com/office/powerpoint/2010/main" val="83333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686871B-EE0D-41B3-BD4B-D6525F2D0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870FCB-6C30-4AA0-8A85-DA5982CEB43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78DA3F5-75BE-426D-9762-4E67E1B94797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690CEE-C40C-4534-9BCB-5F5E424BABDF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E109B-434F-462E-BE90-3FC331CF1A40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2340079-D74A-4825-81C2-E3E4BCE8957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useEffect puede coordinar la carga inicial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46AD4F-74C3-4CEA-B64C-456271A2F7AA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petición se ejecuta al montar el componente; la respuesta válida actualiza el estado.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213956-DCFC-4568-A75A-3D45CFC6FFE3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Sincronización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5DFC3BE-D51F-4677-9824-039B2C7AA6FE}"/>
              </a:ext>
            </a:extLst>
          </p:cNvPr>
          <p:cNvSpPr>
            <a:spLocks noGrp="1"/>
          </p:cNvSpPr>
          <p:nvPr/>
        </p:nvSpPr>
        <p:spPr>
          <a:xfrm>
            <a:off x="628650" y="31623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ABD827D-A5CD-49E7-89CC-EF09952A2979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Validar response.ok.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BCD791E-442E-43FB-B2BD-F74C215092D3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014CAFE-AB07-4385-A025-D8CE3EF1D490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Capturar errores útiles.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AC7599-BF9E-4EA6-AA32-575552AE5234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4300" cy="114300"/>
          </a:xfrm>
          <a:prstGeom prst="ellipse">
            <a:avLst/>
          </a:prstGeom>
          <a:solidFill>
            <a:srgbClr val="2D7D7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2ADF530-B44B-45CE-A656-A272B0980176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Cancelar solicitudes obsoletas.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6A32F30-60CA-47DC-8EB8-277883DB47F2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7524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598850"/>
            <a:ext cx="6991350" cy="26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2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9153A25-829A-4535-823C-E308D1A74E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DE72AA-6C5C-430A-A8BA-194589E3A95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135D8E-8F9A-416D-B086-99FC6D94D3AE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5C671DB-4DB9-4B79-B3A2-E6F13BBAD794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3E9F4FC-6BBE-40B4-80DC-073E31D54795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2C12E00-5443-46FD-B645-25C3165AFB0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arreglo de dependencias controla cuándo se resincroniza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92012E-EE86-4D55-946A-1834D4A5C1C9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pregunta correcta no es “cuándo quiero ejecutar”, sino “de qué valores externos depende el Effect”.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E7C1E8-3315-4267-AEE9-0C9D93C614F4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Forma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F0B19CA-044F-4789-8D39-8936E2EF16A2}"/>
              </a:ext>
            </a:extLst>
          </p:cNvPr>
          <p:cNvSpPr>
            <a:spLocks noGrp="1"/>
          </p:cNvSpPr>
          <p:nvPr/>
        </p:nvSpPr>
        <p:spPr>
          <a:xfrm>
            <a:off x="3524250" y="2238375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Comportamiento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786281-D1C9-4ADC-9539-3A6AC506496D}"/>
              </a:ext>
            </a:extLst>
          </p:cNvPr>
          <p:cNvSpPr>
            <a:spLocks noGrp="1"/>
          </p:cNvSpPr>
          <p:nvPr/>
        </p:nvSpPr>
        <p:spPr>
          <a:xfrm>
            <a:off x="7239000" y="2238375"/>
            <a:ext cx="371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Uso típico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C247120-AF44-4C3B-987E-B9990AB1C14D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04775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C81EF41-A300-4FED-B021-A471A5B71F77}"/>
              </a:ext>
            </a:extLst>
          </p:cNvPr>
          <p:cNvSpPr>
            <a:spLocks noGrp="1"/>
          </p:cNvSpPr>
          <p:nvPr/>
        </p:nvSpPr>
        <p:spPr>
          <a:xfrm>
            <a:off x="895350" y="29337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Sin arreglo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4617DD2-7D4D-4E46-B212-DECAF59E6120}"/>
              </a:ext>
            </a:extLst>
          </p:cNvPr>
          <p:cNvSpPr>
            <a:spLocks noGrp="1"/>
          </p:cNvSpPr>
          <p:nvPr/>
        </p:nvSpPr>
        <p:spPr>
          <a:xfrm>
            <a:off x="3543300" y="2933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Después de cada render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2CDCFFE-B1CF-48A7-8B9B-C7D2FB896E30}"/>
              </a:ext>
            </a:extLst>
          </p:cNvPr>
          <p:cNvSpPr>
            <a:spLocks noGrp="1"/>
          </p:cNvSpPr>
          <p:nvPr/>
        </p:nvSpPr>
        <p:spPr>
          <a:xfrm>
            <a:off x="7258050" y="2867025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Rara vez es lo buscado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DB2AAA2-E6EF-4535-9C67-BF9C1B80082A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0477500" cy="742950"/>
          </a:xfrm>
          <a:prstGeom prst="roundRect">
            <a:avLst>
              <a:gd name="adj" fmla="val 15385"/>
            </a:avLst>
          </a:prstGeom>
          <a:solidFill>
            <a:srgbClr val="003845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B416CB4-9990-4D19-80D0-011A722F3E10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[]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1ABB5B8-D725-4147-97D4-F6E9F12CA56D}"/>
              </a:ext>
            </a:extLst>
          </p:cNvPr>
          <p:cNvSpPr>
            <a:spLocks noGrp="1"/>
          </p:cNvSpPr>
          <p:nvPr/>
        </p:nvSpPr>
        <p:spPr>
          <a:xfrm>
            <a:off x="3543300" y="38862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DED8CC"/>
                </a:solidFill>
              </a:defRPr>
            </a:pPr>
            <a:r>
              <a:rPr sz="1350" b="0">
                <a:solidFill>
                  <a:srgbClr val="DED8CC"/>
                </a:solidFill>
              </a:rPr>
              <a:t>Al montar el componente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13848D1-23A8-4846-A850-95C908316A89}"/>
              </a:ext>
            </a:extLst>
          </p:cNvPr>
          <p:cNvSpPr>
            <a:spLocks noGrp="1"/>
          </p:cNvSpPr>
          <p:nvPr/>
        </p:nvSpPr>
        <p:spPr>
          <a:xfrm>
            <a:off x="7258050" y="3819525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Carga inicial sin dependencias reactivas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4230E475-FB09-4E73-8E9C-F0812C47099B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104775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F9CC483-78D8-4744-AA7C-F3AAC2930313}"/>
              </a:ext>
            </a:extLst>
          </p:cNvPr>
          <p:cNvSpPr>
            <a:spLocks noGrp="1"/>
          </p:cNvSpPr>
          <p:nvPr/>
        </p:nvSpPr>
        <p:spPr>
          <a:xfrm>
            <a:off x="895350" y="48387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[query]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D462D77-2D9F-470E-91B8-D275F93F3E8D}"/>
              </a:ext>
            </a:extLst>
          </p:cNvPr>
          <p:cNvSpPr>
            <a:spLocks noGrp="1"/>
          </p:cNvSpPr>
          <p:nvPr/>
        </p:nvSpPr>
        <p:spPr>
          <a:xfrm>
            <a:off x="3543300" y="4838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Cuando cambia query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297453-6ADE-4F70-9D10-07EFF57E60AD}"/>
              </a:ext>
            </a:extLst>
          </p:cNvPr>
          <p:cNvSpPr>
            <a:spLocks noGrp="1"/>
          </p:cNvSpPr>
          <p:nvPr/>
        </p:nvSpPr>
        <p:spPr>
          <a:xfrm>
            <a:off x="7258050" y="4772025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Búsqueda o filtro remoto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F2DB250-0D09-4E7E-9D67-9D915E3AC892}"/>
              </a:ext>
            </a:extLst>
          </p:cNvPr>
          <p:cNvSpPr>
            <a:spLocks noGrp="1"/>
          </p:cNvSpPr>
          <p:nvPr/>
        </p:nvSpPr>
        <p:spPr>
          <a:xfrm>
            <a:off x="704850" y="574357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 i="1">
                <a:solidFill>
                  <a:srgbClr val="163A43"/>
                </a:solidFill>
              </a:defRPr>
            </a:pPr>
            <a:r>
              <a:rPr sz="1275" b="0" i="1">
                <a:solidFill>
                  <a:srgbClr val="163A43"/>
                </a:solidFill>
              </a:rPr>
              <a:t>En desarrollo, StrictMode puede ejecutar un ciclo adicional para detectar Effects sin limpieza correcta.</a:t>
            </a:r>
          </a:p>
        </p:txBody>
      </p:sp>
    </p:spTree>
    <p:extLst>
      <p:ext uri="{BB962C8B-B14F-4D97-AF65-F5344CB8AC3E}">
        <p14:creationId xmlns:p14="http://schemas.microsoft.com/office/powerpoint/2010/main" val="25699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96FACC8-3122-4752-9A57-F9AA70E576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FC4E24-6AF0-43F2-B453-7C24AA26F6C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CFD672D-3BE8-44DE-8903-544255DD17B3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F383A49-B219-4346-89D4-3101203572FE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B1F85F-6AD5-47C3-A7D5-80BDC2B9EFC9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6" name="Imagen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052DF0E-BCC0-434D-B14F-E0CF95AAA9A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Una interfaz remota debe representar todos sus estados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BC83E66-456C-453E-A1FB-F2B46FB68A07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estado técnico de la petición se convierte en una experiencia comprensible.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599364C-96FB-4AA2-8D69-182E04331C24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2524125" cy="3048000"/>
          </a:xfrm>
          <a:prstGeom prst="roundRect">
            <a:avLst>
              <a:gd name="adj" fmla="val 4528"/>
            </a:avLst>
          </a:prstGeom>
          <a:solidFill>
            <a:srgbClr val="DED8CC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1D8315-C857-49E2-B638-E9C51E86BFC5}"/>
              </a:ext>
            </a:extLst>
          </p:cNvPr>
          <p:cNvSpPr>
            <a:spLocks noGrp="1"/>
          </p:cNvSpPr>
          <p:nvPr/>
        </p:nvSpPr>
        <p:spPr>
          <a:xfrm>
            <a:off x="828675" y="24955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CARGA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33E75E-D614-4109-8543-53A41A4AAC03}"/>
              </a:ext>
            </a:extLst>
          </p:cNvPr>
          <p:cNvSpPr>
            <a:spLocks noGrp="1"/>
          </p:cNvSpPr>
          <p:nvPr/>
        </p:nvSpPr>
        <p:spPr>
          <a:xfrm>
            <a:off x="828675" y="30670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loading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20724AFE-86F3-4349-8C87-5215432AB67D}"/>
              </a:ext>
            </a:extLst>
          </p:cNvPr>
          <p:cNvSpPr>
            <a:spLocks noGrp="1"/>
          </p:cNvSpPr>
          <p:nvPr/>
        </p:nvSpPr>
        <p:spPr>
          <a:xfrm>
            <a:off x="828675" y="3857625"/>
            <a:ext cx="2076450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D7F175B-3738-40F0-A391-1CC52E3AA805}"/>
              </a:ext>
            </a:extLst>
          </p:cNvPr>
          <p:cNvSpPr>
            <a:spLocks noGrp="1"/>
          </p:cNvSpPr>
          <p:nvPr/>
        </p:nvSpPr>
        <p:spPr>
          <a:xfrm>
            <a:off x="828675" y="4114800"/>
            <a:ext cx="209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“Cargando personajes…”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DFCEA5D-B793-4B12-A154-AE33D86C6952}"/>
              </a:ext>
            </a:extLst>
          </p:cNvPr>
          <p:cNvSpPr>
            <a:spLocks noGrp="1"/>
          </p:cNvSpPr>
          <p:nvPr/>
        </p:nvSpPr>
        <p:spPr>
          <a:xfrm>
            <a:off x="3419475" y="2238375"/>
            <a:ext cx="2524125" cy="3048000"/>
          </a:xfrm>
          <a:prstGeom prst="roundRect">
            <a:avLst>
              <a:gd name="adj" fmla="val 4528"/>
            </a:avLst>
          </a:prstGeom>
          <a:solidFill>
            <a:srgbClr val="E8D4CF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B7B264-47EE-4AE6-A401-22C9C56C722D}"/>
              </a:ext>
            </a:extLst>
          </p:cNvPr>
          <p:cNvSpPr>
            <a:spLocks noGrp="1"/>
          </p:cNvSpPr>
          <p:nvPr/>
        </p:nvSpPr>
        <p:spPr>
          <a:xfrm>
            <a:off x="3629025" y="24955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ERROR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1123A57-AC28-4741-AFD4-4D0771C5A480}"/>
              </a:ext>
            </a:extLst>
          </p:cNvPr>
          <p:cNvSpPr>
            <a:spLocks noGrp="1"/>
          </p:cNvSpPr>
          <p:nvPr/>
        </p:nvSpPr>
        <p:spPr>
          <a:xfrm>
            <a:off x="3629025" y="30670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error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0CC1A0B2-8B1F-4067-9E29-666B0955C681}"/>
              </a:ext>
            </a:extLst>
          </p:cNvPr>
          <p:cNvSpPr>
            <a:spLocks noGrp="1"/>
          </p:cNvSpPr>
          <p:nvPr/>
        </p:nvSpPr>
        <p:spPr>
          <a:xfrm>
            <a:off x="3629025" y="3857625"/>
            <a:ext cx="2076450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467ED04-BA13-4165-8A69-434782E4D616}"/>
              </a:ext>
            </a:extLst>
          </p:cNvPr>
          <p:cNvSpPr>
            <a:spLocks noGrp="1"/>
          </p:cNvSpPr>
          <p:nvPr/>
        </p:nvSpPr>
        <p:spPr>
          <a:xfrm>
            <a:off x="3629025" y="4114800"/>
            <a:ext cx="209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Mensaje + posibilidad de reintento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4F8339E-8612-4C45-ACA7-CC4E224A62BB}"/>
              </a:ext>
            </a:extLst>
          </p:cNvPr>
          <p:cNvSpPr>
            <a:spLocks noGrp="1"/>
          </p:cNvSpPr>
          <p:nvPr/>
        </p:nvSpPr>
        <p:spPr>
          <a:xfrm>
            <a:off x="6219825" y="2238375"/>
            <a:ext cx="2524125" cy="3048000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 w="0">
            <a:noFill/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6EA03C9-F71D-4954-A546-C939A6C9F7B9}"/>
              </a:ext>
            </a:extLst>
          </p:cNvPr>
          <p:cNvSpPr>
            <a:spLocks noGrp="1"/>
          </p:cNvSpPr>
          <p:nvPr/>
        </p:nvSpPr>
        <p:spPr>
          <a:xfrm>
            <a:off x="6429375" y="24955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VACÍO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4C898B4-073C-4EEF-AB53-6CDA6FB9A81D}"/>
              </a:ext>
            </a:extLst>
          </p:cNvPr>
          <p:cNvSpPr>
            <a:spLocks noGrp="1"/>
          </p:cNvSpPr>
          <p:nvPr/>
        </p:nvSpPr>
        <p:spPr>
          <a:xfrm>
            <a:off x="6429375" y="30670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characters.length === 0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63BF69D8-C40C-4F4F-8233-99917D2F9534}"/>
              </a:ext>
            </a:extLst>
          </p:cNvPr>
          <p:cNvSpPr>
            <a:spLocks noGrp="1"/>
          </p:cNvSpPr>
          <p:nvPr/>
        </p:nvSpPr>
        <p:spPr>
          <a:xfrm>
            <a:off x="6429375" y="3857625"/>
            <a:ext cx="2076450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0F91C-0868-474D-A0D0-AB9F9B3BFDB6}"/>
              </a:ext>
            </a:extLst>
          </p:cNvPr>
          <p:cNvSpPr>
            <a:spLocks noGrp="1"/>
          </p:cNvSpPr>
          <p:nvPr/>
        </p:nvSpPr>
        <p:spPr>
          <a:xfrm>
            <a:off x="6429375" y="4114800"/>
            <a:ext cx="209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“No hay resultados”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27CE82B-2DAC-4713-BEC5-6B2785A9DC51}"/>
              </a:ext>
            </a:extLst>
          </p:cNvPr>
          <p:cNvSpPr>
            <a:spLocks noGrp="1"/>
          </p:cNvSpPr>
          <p:nvPr/>
        </p:nvSpPr>
        <p:spPr>
          <a:xfrm>
            <a:off x="9020175" y="2238375"/>
            <a:ext cx="2524125" cy="3048000"/>
          </a:xfrm>
          <a:prstGeom prst="roundRect">
            <a:avLst>
              <a:gd name="adj" fmla="val 4528"/>
            </a:avLst>
          </a:prstGeom>
          <a:solidFill>
            <a:srgbClr val="D4E3DC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ED388BE-852F-4C3D-9CDF-FA0373E2C9AE}"/>
              </a:ext>
            </a:extLst>
          </p:cNvPr>
          <p:cNvSpPr>
            <a:spLocks noGrp="1"/>
          </p:cNvSpPr>
          <p:nvPr/>
        </p:nvSpPr>
        <p:spPr>
          <a:xfrm>
            <a:off x="9229725" y="24955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ÉXITO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5B18B20-8510-4128-87F5-96B88BFEFB9B}"/>
              </a:ext>
            </a:extLst>
          </p:cNvPr>
          <p:cNvSpPr>
            <a:spLocks noGrp="1"/>
          </p:cNvSpPr>
          <p:nvPr/>
        </p:nvSpPr>
        <p:spPr>
          <a:xfrm>
            <a:off x="9229725" y="30670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characters</a:t>
            </a: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4D4039CA-1EF2-41E7-BC42-3C190314E5A4}"/>
              </a:ext>
            </a:extLst>
          </p:cNvPr>
          <p:cNvSpPr>
            <a:spLocks noGrp="1"/>
          </p:cNvSpPr>
          <p:nvPr/>
        </p:nvSpPr>
        <p:spPr>
          <a:xfrm>
            <a:off x="9229725" y="3857625"/>
            <a:ext cx="2076450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05138B5-53EA-4BD1-B7B6-3253929E8B69}"/>
              </a:ext>
            </a:extLst>
          </p:cNvPr>
          <p:cNvSpPr>
            <a:spLocks noGrp="1"/>
          </p:cNvSpPr>
          <p:nvPr/>
        </p:nvSpPr>
        <p:spPr>
          <a:xfrm>
            <a:off x="9229725" y="4114800"/>
            <a:ext cx="209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Colección de tarjetas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8E5FF90-A8CA-4774-8C15-8E0A7CE4FFA8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Robustez = modelar cada estado desde el inicio, no añadir mensajes al final.</a:t>
            </a:r>
          </a:p>
        </p:txBody>
      </p:sp>
    </p:spTree>
    <p:extLst>
      <p:ext uri="{BB962C8B-B14F-4D97-AF65-F5344CB8AC3E}">
        <p14:creationId xmlns:p14="http://schemas.microsoft.com/office/powerpoint/2010/main" val="1921363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5671CD8-7687-4664-BB7E-5408ECB207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BA27981-18FC-4AA9-A39F-C5850637CA2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FUNDAMENTOS DE REACT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49B82A-2F2B-4B5E-AA98-4DC543152BAD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739C23-A054-416C-A3AD-25247A0B1C4A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D226A9-C3BD-452D-BE04-FEA9DC3F1F23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23BF229-F0E4-4BAB-B842-DEE71B2E5CE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Cada pieza conserva una responsabilidad observable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3997C4-D6FB-4F14-AA79-EE59FC15EEE5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arquitectura del ejercicio separa obtención de datos, estado y presentación.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A10E3872-7569-46D4-8541-09B7444A1DC7}"/>
              </a:ext>
            </a:extLst>
          </p:cNvPr>
          <p:cNvSpPr>
            <a:spLocks noGrp="1"/>
          </p:cNvSpPr>
          <p:nvPr/>
        </p:nvSpPr>
        <p:spPr>
          <a:xfrm>
            <a:off x="2419350" y="3333750"/>
            <a:ext cx="1619250" cy="19050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3A72DB48-58AE-46BB-BE2A-0CEC1BE4738F}"/>
              </a:ext>
            </a:extLst>
          </p:cNvPr>
          <p:cNvSpPr>
            <a:spLocks noGrp="1"/>
          </p:cNvSpPr>
          <p:nvPr/>
        </p:nvSpPr>
        <p:spPr>
          <a:xfrm>
            <a:off x="5619750" y="3333750"/>
            <a:ext cx="1619250" cy="19050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D7D25A88-0201-41E1-A852-135250E23920}"/>
              </a:ext>
            </a:extLst>
          </p:cNvPr>
          <p:cNvSpPr>
            <a:spLocks noGrp="1"/>
          </p:cNvSpPr>
          <p:nvPr/>
        </p:nvSpPr>
        <p:spPr>
          <a:xfrm>
            <a:off x="8801100" y="3333750"/>
            <a:ext cx="1143000" cy="19050"/>
          </a:xfrm>
          <a:prstGeom prst="line">
            <a:avLst/>
          </a:prstGeom>
          <a:noFill/>
          <a:ln w="9525">
            <a:solidFill>
              <a:srgbClr val="2D7D7B"/>
            </a:solidFill>
            <a:prstDash val="solid"/>
          </a:ln>
        </p:spPr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8BFBB31-B7BA-49B9-88FE-679CBCE26077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2095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69451F4-3646-40A4-A508-1E3BBE985FB3}"/>
              </a:ext>
            </a:extLst>
          </p:cNvPr>
          <p:cNvSpPr>
            <a:spLocks noGrp="1"/>
          </p:cNvSpPr>
          <p:nvPr/>
        </p:nvSpPr>
        <p:spPr>
          <a:xfrm>
            <a:off x="790575" y="2876550"/>
            <a:ext cx="1752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API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6F9E88E-D2A9-4B33-A036-03574767D45B}"/>
              </a:ext>
            </a:extLst>
          </p:cNvPr>
          <p:cNvSpPr>
            <a:spLocks noGrp="1"/>
          </p:cNvSpPr>
          <p:nvPr/>
        </p:nvSpPr>
        <p:spPr>
          <a:xfrm>
            <a:off x="790575" y="3476625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Contrato JSON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9291287-35C5-4A7C-8694-E19B367CC079}"/>
              </a:ext>
            </a:extLst>
          </p:cNvPr>
          <p:cNvSpPr>
            <a:spLocks noGrp="1"/>
          </p:cNvSpPr>
          <p:nvPr/>
        </p:nvSpPr>
        <p:spPr>
          <a:xfrm>
            <a:off x="4048125" y="2571750"/>
            <a:ext cx="2095500" cy="1619250"/>
          </a:xfrm>
          <a:prstGeom prst="roundRect">
            <a:avLst>
              <a:gd name="adj" fmla="val 7059"/>
            </a:avLst>
          </a:prstGeom>
          <a:solidFill>
            <a:srgbClr val="003845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16DD19C-4753-4B48-B113-8FAE472DDF7A}"/>
              </a:ext>
            </a:extLst>
          </p:cNvPr>
          <p:cNvSpPr>
            <a:spLocks noGrp="1"/>
          </p:cNvSpPr>
          <p:nvPr/>
        </p:nvSpPr>
        <p:spPr>
          <a:xfrm>
            <a:off x="4219575" y="2876550"/>
            <a:ext cx="1752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C81201B-E45B-47F1-99AD-0A06397583D9}"/>
              </a:ext>
            </a:extLst>
          </p:cNvPr>
          <p:cNvSpPr>
            <a:spLocks noGrp="1"/>
          </p:cNvSpPr>
          <p:nvPr/>
        </p:nvSpPr>
        <p:spPr>
          <a:xfrm>
            <a:off x="4219575" y="3476625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DED8CC"/>
                </a:solidFill>
              </a:defRPr>
            </a:pPr>
            <a:r>
              <a:rPr sz="1200" b="0">
                <a:solidFill>
                  <a:srgbClr val="DED8CC"/>
                </a:solidFill>
              </a:rPr>
              <a:t>Effect + estado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9A6821C-633B-4673-8FCA-B559C71D4DC5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095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C02B27-2EE6-4C5A-A02D-0424F61C9C96}"/>
              </a:ext>
            </a:extLst>
          </p:cNvPr>
          <p:cNvSpPr>
            <a:spLocks noGrp="1"/>
          </p:cNvSpPr>
          <p:nvPr/>
        </p:nvSpPr>
        <p:spPr>
          <a:xfrm>
            <a:off x="7410450" y="2876550"/>
            <a:ext cx="1752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CharacterList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F75F34C-9166-4A64-AE39-890DCE46F0BB}"/>
              </a:ext>
            </a:extLst>
          </p:cNvPr>
          <p:cNvSpPr>
            <a:spLocks noGrp="1"/>
          </p:cNvSpPr>
          <p:nvPr/>
        </p:nvSpPr>
        <p:spPr>
          <a:xfrm>
            <a:off x="7410450" y="3476625"/>
            <a:ext cx="1752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Recorre la colección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74CB8B2-D8AA-4DF2-AB04-71335A4FA3D1}"/>
              </a:ext>
            </a:extLst>
          </p:cNvPr>
          <p:cNvSpPr>
            <a:spLocks noGrp="1"/>
          </p:cNvSpPr>
          <p:nvPr/>
        </p:nvSpPr>
        <p:spPr>
          <a:xfrm>
            <a:off x="9953625" y="2571750"/>
            <a:ext cx="1714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AEBDB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069B7BA-3FE6-476D-BB37-9AC347D8AEAA}"/>
              </a:ext>
            </a:extLst>
          </p:cNvPr>
          <p:cNvSpPr>
            <a:spLocks noGrp="1"/>
          </p:cNvSpPr>
          <p:nvPr/>
        </p:nvSpPr>
        <p:spPr>
          <a:xfrm>
            <a:off x="10125075" y="28765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CharacterCard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B231C51-1DE5-4F1C-BF5C-5D71314B781F}"/>
              </a:ext>
            </a:extLst>
          </p:cNvPr>
          <p:cNvSpPr>
            <a:spLocks noGrp="1"/>
          </p:cNvSpPr>
          <p:nvPr/>
        </p:nvSpPr>
        <p:spPr>
          <a:xfrm>
            <a:off x="10125075" y="3476625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Presenta datos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8EF621F-947E-43D9-973C-10824A9171E2}"/>
              </a:ext>
            </a:extLst>
          </p:cNvPr>
          <p:cNvSpPr>
            <a:spLocks noGrp="1"/>
          </p:cNvSpPr>
          <p:nvPr/>
        </p:nvSpPr>
        <p:spPr>
          <a:xfrm>
            <a:off x="3638550" y="4953000"/>
            <a:ext cx="4905375" cy="342900"/>
          </a:xfrm>
          <a:prstGeom prst="roundRect">
            <a:avLst>
              <a:gd name="adj" fmla="val 33333"/>
            </a:avLst>
          </a:prstGeom>
          <a:solidFill>
            <a:srgbClr val="DED8CC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8CFD816-89C4-46F3-ACCC-0ABD0E7EBCB3}"/>
              </a:ext>
            </a:extLst>
          </p:cNvPr>
          <p:cNvSpPr>
            <a:spLocks noGrp="1"/>
          </p:cNvSpPr>
          <p:nvPr/>
        </p:nvSpPr>
        <p:spPr>
          <a:xfrm>
            <a:off x="3733800" y="5019675"/>
            <a:ext cx="471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Datos → estado → componentes → interfaz</a:t>
            </a:r>
          </a:p>
        </p:txBody>
      </p:sp>
    </p:spTree>
    <p:extLst>
      <p:ext uri="{BB962C8B-B14F-4D97-AF65-F5344CB8AC3E}">
        <p14:creationId xmlns:p14="http://schemas.microsoft.com/office/powerpoint/2010/main" val="141075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F982735-A7BA-408D-A9D0-2BAAB72866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997403-1FE1-4F04-AA46-924AE8D035D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APLICACIÓN PRÁCTICA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66F5DC-9281-42AA-8ACB-F04A32E0824E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38EBD89-1EB2-4BB9-B042-E3CFDFBCE6D2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97C3E4-D554-401C-9E14-02A14E71614B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4" name="Imagen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8A3138D-A1E8-4F0F-B22A-B18174750138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828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000" b="1">
                <a:solidFill>
                  <a:srgbClr val="003845"/>
                </a:solidFill>
              </a:defRPr>
            </a:pPr>
            <a:r>
              <a:rPr sz="3000" b="1">
                <a:solidFill>
                  <a:srgbClr val="003845"/>
                </a:solidFill>
              </a:rPr>
              <a:t>Ahora llevamos el modelo mental al editor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CB5507-9CD4-46E3-B5BB-D9541C5B22B9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0777B"/>
                </a:solidFill>
              </a:defRPr>
            </a:pPr>
            <a:r>
              <a:rPr sz="1575" b="0">
                <a:solidFill>
                  <a:srgbClr val="60777B"/>
                </a:solidFill>
              </a:rPr>
              <a:t>Live coding: consumir la API de Rick and Morty y representar sus estados en una interfaz.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E202BA-7E53-43DA-AEE7-0CFE677E5B32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8684B63-D797-4ECC-B251-4CD4B944E4CC}"/>
              </a:ext>
            </a:extLst>
          </p:cNvPr>
          <p:cNvSpPr>
            <a:spLocks noGrp="1"/>
          </p:cNvSpPr>
          <p:nvPr/>
        </p:nvSpPr>
        <p:spPr>
          <a:xfrm>
            <a:off x="1428750" y="24955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Estructura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49EBDB4-892A-449C-ABE0-DDB13D2D526E}"/>
              </a:ext>
            </a:extLst>
          </p:cNvPr>
          <p:cNvSpPr>
            <a:spLocks noGrp="1"/>
          </p:cNvSpPr>
          <p:nvPr/>
        </p:nvSpPr>
        <p:spPr>
          <a:xfrm>
            <a:off x="3714750" y="2524125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App y componentes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F2A5C65-6FBB-4421-9320-EC50998754DD}"/>
              </a:ext>
            </a:extLst>
          </p:cNvPr>
          <p:cNvSpPr>
            <a:spLocks noGrp="1"/>
          </p:cNvSpPr>
          <p:nvPr/>
        </p:nvSpPr>
        <p:spPr>
          <a:xfrm>
            <a:off x="685800" y="3171825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9EB274-E6DE-434D-ADAE-F239661CC913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Datos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3011553-79CE-4551-9E64-C9B2CCB4E88F}"/>
              </a:ext>
            </a:extLst>
          </p:cNvPr>
          <p:cNvSpPr>
            <a:spLocks noGrp="1"/>
          </p:cNvSpPr>
          <p:nvPr/>
        </p:nvSpPr>
        <p:spPr>
          <a:xfrm>
            <a:off x="3714750" y="3171825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Endpoint y contrato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A7C1182-3DC1-468C-BBDE-A6844F9B56D5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B81E9D5-BEBC-4DA9-AF47-F38B8B570397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Estado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6D5ED4B-1400-46E4-A43A-E5C7B5983EDA}"/>
              </a:ext>
            </a:extLst>
          </p:cNvPr>
          <p:cNvSpPr>
            <a:spLocks noGrp="1"/>
          </p:cNvSpPr>
          <p:nvPr/>
        </p:nvSpPr>
        <p:spPr>
          <a:xfrm>
            <a:off x="3714750" y="3819525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Carga, error y resultados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77097A9-729A-4F40-8630-77052ABB9351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EE56E00-C5BC-471F-B709-D7393FC20A60}"/>
              </a:ext>
            </a:extLst>
          </p:cNvPr>
          <p:cNvSpPr>
            <a:spLocks noGrp="1"/>
          </p:cNvSpPr>
          <p:nvPr/>
        </p:nvSpPr>
        <p:spPr>
          <a:xfrm>
            <a:off x="1428750" y="44386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Effect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DB7393-C270-4367-AB37-82F9E532179D}"/>
              </a:ext>
            </a:extLst>
          </p:cNvPr>
          <p:cNvSpPr>
            <a:spLocks noGrp="1"/>
          </p:cNvSpPr>
          <p:nvPr/>
        </p:nvSpPr>
        <p:spPr>
          <a:xfrm>
            <a:off x="3714750" y="4467225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Petición y limpieza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038CD0B-1580-4B2E-8377-85D9F4EFE358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0382909-17BB-44B3-A31C-8846183322E4}"/>
              </a:ext>
            </a:extLst>
          </p:cNvPr>
          <p:cNvSpPr>
            <a:spLocks noGrp="1"/>
          </p:cNvSpPr>
          <p:nvPr/>
        </p:nvSpPr>
        <p:spPr>
          <a:xfrm>
            <a:off x="1428750" y="50863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Render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E46E853-25A3-4509-9764-251FCD4F3C64}"/>
              </a:ext>
            </a:extLst>
          </p:cNvPr>
          <p:cNvSpPr>
            <a:spLocks noGrp="1"/>
          </p:cNvSpPr>
          <p:nvPr/>
        </p:nvSpPr>
        <p:spPr>
          <a:xfrm>
            <a:off x="3714750" y="5114925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Lista de tarjetas</a:t>
            </a:r>
          </a:p>
        </p:txBody>
      </p:sp>
      <p:pic>
        <p:nvPicPr>
          <p:cNvPr id="52" name="Imagen 51"/>
          <p:cNvPicPr>
            <a:picLocks noChangeAspect="1"/>
          </p:cNvPicPr>
          <p:nvPr/>
        </p:nvPicPr>
        <p:blipFill>
          <a:blip r:embed="rId4"/>
          <a:srcRect l="21401" r="21401"/>
          <a:stretch>
            <a:fillRect/>
          </a:stretch>
        </p:blipFill>
        <p:spPr>
          <a:xfrm>
            <a:off x="8810625" y="2381250"/>
            <a:ext cx="2857500" cy="333375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C9E1628B-547C-41CB-B0B6-6F7C74C16BB4}"/>
              </a:ext>
            </a:extLst>
          </p:cNvPr>
          <p:cNvSpPr>
            <a:spLocks noGrp="1"/>
          </p:cNvSpPr>
          <p:nvPr/>
        </p:nvSpPr>
        <p:spPr>
          <a:xfrm>
            <a:off x="8810625" y="4857750"/>
            <a:ext cx="2857500" cy="857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8816D37-BC39-42AE-AEA3-91543DCE8269}"/>
              </a:ext>
            </a:extLst>
          </p:cNvPr>
          <p:cNvSpPr>
            <a:spLocks noGrp="1"/>
          </p:cNvSpPr>
          <p:nvPr/>
        </p:nvSpPr>
        <p:spPr>
          <a:xfrm>
            <a:off x="9067800" y="51054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1601771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F61660B-AB7E-4485-B60F-5ABB1F2A65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B944DE-E747-4302-9FB5-3556A4B6A84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FUENTES Y CONTINUIDAD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A6E008-59CC-45A6-ADCA-652F0FA09567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CBBBE12-79CB-4669-9739-D5A800767FE3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845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259AE8-E2E0-438F-8F20-C03EB1AAD415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6564037"/>
            <a:ext cx="1428750" cy="16882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8132E15-894C-4A3E-BA34-97DD0CA48C5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Referencias para continuar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78CC1C5-AE84-421B-B486-1B5C315FA39B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Documentación primaria utilizada para preparar la sesión.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3391F99-837C-42DA-A78B-D99D20251F01}"/>
              </a:ext>
            </a:extLst>
          </p:cNvPr>
          <p:cNvSpPr>
            <a:spLocks noGrp="1"/>
          </p:cNvSpPr>
          <p:nvPr/>
        </p:nvSpPr>
        <p:spPr>
          <a:xfrm>
            <a:off x="704850" y="21431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Learn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10FD7B9-D8DE-4CA3-9B1C-6805C88870EB}"/>
              </a:ext>
            </a:extLst>
          </p:cNvPr>
          <p:cNvSpPr>
            <a:spLocks noGrp="1"/>
          </p:cNvSpPr>
          <p:nvPr/>
        </p:nvSpPr>
        <p:spPr>
          <a:xfrm>
            <a:off x="3429000" y="21431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Componentes, JSX, props, estado y renderizado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99D47F-F1EB-4A64-9613-19DFB20FBAFF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react.dev/learn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A9DD5996-0B6A-4F14-9715-F5905A983E11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10620375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C989D23-BB96-4C83-A5FF-77C335AA0471}"/>
              </a:ext>
            </a:extLst>
          </p:cNvPr>
          <p:cNvSpPr>
            <a:spLocks noGrp="1"/>
          </p:cNvSpPr>
          <p:nvPr/>
        </p:nvSpPr>
        <p:spPr>
          <a:xfrm>
            <a:off x="704850" y="28860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API Reference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468BD7-6407-426D-A1A8-7F61BA088A25}"/>
              </a:ext>
            </a:extLst>
          </p:cNvPr>
          <p:cNvSpPr>
            <a:spLocks noGrp="1"/>
          </p:cNvSpPr>
          <p:nvPr/>
        </p:nvSpPr>
        <p:spPr>
          <a:xfrm>
            <a:off x="3429000" y="288607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useState, useEffect y StrictMode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CE3249B-2604-4F0A-94B3-7C99223610C2}"/>
              </a:ext>
            </a:extLst>
          </p:cNvPr>
          <p:cNvSpPr>
            <a:spLocks noGrp="1"/>
          </p:cNvSpPr>
          <p:nvPr/>
        </p:nvSpPr>
        <p:spPr>
          <a:xfrm>
            <a:off x="8572500" y="288607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react.dev/reference/react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317AD7BB-7B36-4F71-B5B1-8E619D94298A}"/>
              </a:ext>
            </a:extLst>
          </p:cNvPr>
          <p:cNvSpPr>
            <a:spLocks noGrp="1"/>
          </p:cNvSpPr>
          <p:nvPr/>
        </p:nvSpPr>
        <p:spPr>
          <a:xfrm>
            <a:off x="704850" y="3314700"/>
            <a:ext cx="10620375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296599-B9FF-44A7-A7E2-54CD8543D9E6}"/>
              </a:ext>
            </a:extLst>
          </p:cNvPr>
          <p:cNvSpPr>
            <a:spLocks noGrp="1"/>
          </p:cNvSpPr>
          <p:nvPr/>
        </p:nvSpPr>
        <p:spPr>
          <a:xfrm>
            <a:off x="704850" y="36290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MDN Web Docs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1E14743-D93E-413A-BB4A-C582CC8CB4C0}"/>
              </a:ext>
            </a:extLst>
          </p:cNvPr>
          <p:cNvSpPr>
            <a:spLocks noGrp="1"/>
          </p:cNvSpPr>
          <p:nvPr/>
        </p:nvSpPr>
        <p:spPr>
          <a:xfrm>
            <a:off x="3429000" y="36290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Fetch API, promesas y AbortController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C7CCF9E-0DCE-4255-BF24-98642E36E236}"/>
              </a:ext>
            </a:extLst>
          </p:cNvPr>
          <p:cNvSpPr>
            <a:spLocks noGrp="1"/>
          </p:cNvSpPr>
          <p:nvPr/>
        </p:nvSpPr>
        <p:spPr>
          <a:xfrm>
            <a:off x="8572500" y="36290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developer.mozilla.org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7A4919BD-4A29-4BAC-84D2-DAB05E7DAC97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10620375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654952D-099A-4AC7-9F6A-B1E9825DEAD4}"/>
              </a:ext>
            </a:extLst>
          </p:cNvPr>
          <p:cNvSpPr>
            <a:spLocks noGrp="1"/>
          </p:cNvSpPr>
          <p:nvPr/>
        </p:nvSpPr>
        <p:spPr>
          <a:xfrm>
            <a:off x="704850" y="43719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Rick and Morty API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98634CB-9AD6-4773-ACC9-50CDA97776E4}"/>
              </a:ext>
            </a:extLst>
          </p:cNvPr>
          <p:cNvSpPr>
            <a:spLocks noGrp="1"/>
          </p:cNvSpPr>
          <p:nvPr/>
        </p:nvSpPr>
        <p:spPr>
          <a:xfrm>
            <a:off x="3429000" y="437197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Endpoints y estructura de respuestas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D508F1A-E69A-47C3-9491-3B6C0FC26BFC}"/>
              </a:ext>
            </a:extLst>
          </p:cNvPr>
          <p:cNvSpPr>
            <a:spLocks noGrp="1"/>
          </p:cNvSpPr>
          <p:nvPr/>
        </p:nvSpPr>
        <p:spPr>
          <a:xfrm>
            <a:off x="8572500" y="437197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rickandmortyapi.com/documentation</a:t>
            </a: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1160B2D8-2586-4D77-B5AA-1BD1F1DFC863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10620375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A2612D2-A210-4FC6-B0D6-E727221AD547}"/>
              </a:ext>
            </a:extLst>
          </p:cNvPr>
          <p:cNvSpPr>
            <a:spLocks noGrp="1"/>
          </p:cNvSpPr>
          <p:nvPr/>
        </p:nvSpPr>
        <p:spPr>
          <a:xfrm>
            <a:off x="704850" y="51149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Vite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0D414F2-B636-442D-AE69-6674FB6D51D6}"/>
              </a:ext>
            </a:extLst>
          </p:cNvPr>
          <p:cNvSpPr>
            <a:spLocks noGrp="1"/>
          </p:cNvSpPr>
          <p:nvPr/>
        </p:nvSpPr>
        <p:spPr>
          <a:xfrm>
            <a:off x="3429000" y="51149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Creación y ejecución del proyecto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B74F5D9-65FE-4409-8E4D-11AFBDBF2A7A}"/>
              </a:ext>
            </a:extLst>
          </p:cNvPr>
          <p:cNvSpPr>
            <a:spLocks noGrp="1"/>
          </p:cNvSpPr>
          <p:nvPr/>
        </p:nvSpPr>
        <p:spPr>
          <a:xfrm>
            <a:off x="8572500" y="51149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vite.dev/guide</a:t>
            </a:r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112690C1-EB33-4EC0-BC89-4C60828FA8BB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0620375" cy="9525"/>
          </a:xfrm>
          <a:prstGeom prst="line">
            <a:avLst/>
          </a:prstGeom>
          <a:noFill/>
          <a:ln w="9525">
            <a:solidFill>
              <a:srgbClr val="AEBDB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11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rcRect t="485" b="4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B76A1A2-6ADC-433A-8465-7F46B49EFB83}"/>
              </a:ext>
            </a:extLst>
          </p:cNvPr>
          <p:cNvSpPr>
            <a:spLocks noGrp="1"/>
          </p:cNvSpPr>
          <p:nvPr/>
        </p:nvSpPr>
        <p:spPr>
          <a:xfrm>
            <a:off x="1047750" y="1000125"/>
            <a:ext cx="100965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Gracias por su participación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C4771-962A-417F-8DA9-6F8E643992B0}"/>
              </a:ext>
            </a:extLst>
          </p:cNvPr>
          <p:cNvSpPr>
            <a:spLocks noGrp="1"/>
          </p:cNvSpPr>
          <p:nvPr/>
        </p:nvSpPr>
        <p:spPr>
          <a:xfrm>
            <a:off x="2333625" y="1714500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>
                <a:solidFill>
                  <a:srgbClr val="D8E1E2"/>
                </a:solidFill>
              </a:defRPr>
            </a:pPr>
            <a:r>
              <a:rPr sz="1425">
                <a:solidFill>
                  <a:srgbClr val="D8E1E2"/>
                </a:solidFill>
              </a:rPr>
              <a:t>Gracias por acompañarnos en esta primera sesión de React.</a:t>
            </a:r>
          </a:p>
        </p:txBody>
      </p:sp>
    </p:spTree>
    <p:extLst>
      <p:ext uri="{BB962C8B-B14F-4D97-AF65-F5344CB8AC3E}">
        <p14:creationId xmlns:p14="http://schemas.microsoft.com/office/powerpoint/2010/main" val="13771965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Panorámica</PresentationFormat>
  <Slides>17</Slides>
  <Notes>17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1</cp:revision>
  <dcterms:created xsi:type="dcterms:W3CDTF">2026-08-03T19:41:11Z</dcterms:created>
  <dcterms:modified xsi:type="dcterms:W3CDTF">2026-08-03T20:09:15Z</dcterms:modified>
</cp:coreProperties>
</file>